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70" r:id="rId12"/>
    <p:sldId id="271" r:id="rId13"/>
    <p:sldId id="272" r:id="rId14"/>
    <p:sldId id="273" r:id="rId15"/>
    <p:sldId id="274" r:id="rId16"/>
    <p:sldId id="275" r:id="rId17"/>
    <p:sldId id="265" r:id="rId18"/>
    <p:sldId id="266" r:id="rId19"/>
    <p:sldId id="267" r:id="rId20"/>
    <p:sldId id="268" r:id="rId21"/>
    <p:sldId id="269" r:id="rId2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2191695" cy="508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212080" y="1097280"/>
            <a:ext cx="1645920" cy="1645920"/>
          </a:xfrm>
          <a:prstGeom prst="ellipse">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212080" y="1417320"/>
            <a:ext cx="1645920" cy="1005840"/>
          </a:xfrm>
          <a:prstGeom prst="rect">
            <a:avLst/>
          </a:prstGeom>
          <a:noFill/>
        </p:spPr>
        <p:txBody>
          <a:bodyPr wrap="square">
            <a:spAutoFit/>
          </a:bodyPr>
          <a:lstStyle/>
          <a:p>
            <a:pPr algn="ctr">
              <a:defRPr sz="4800" b="0">
                <a:solidFill>
                  <a:srgbClr val="FFFFFF"/>
                </a:solidFill>
                <a:latin typeface="Segoe UI" panose="020B0502040204020203"/>
              </a:defRPr>
            </a:pPr>
            <a:r>
              <a:t>📄</a:t>
            </a:r>
          </a:p>
        </p:txBody>
      </p:sp>
      <p:sp>
        <p:nvSpPr>
          <p:cNvPr id="5" name="TextBox 4"/>
          <p:cNvSpPr txBox="1"/>
          <p:nvPr/>
        </p:nvSpPr>
        <p:spPr>
          <a:xfrm>
            <a:off x="1371600" y="3017520"/>
            <a:ext cx="9144000" cy="914400"/>
          </a:xfrm>
          <a:prstGeom prst="rect">
            <a:avLst/>
          </a:prstGeom>
          <a:noFill/>
        </p:spPr>
        <p:txBody>
          <a:bodyPr wrap="square">
            <a:spAutoFit/>
          </a:bodyPr>
          <a:lstStyle/>
          <a:p>
            <a:pPr algn="ctr">
              <a:defRPr sz="5600" b="1">
                <a:solidFill>
                  <a:srgbClr val="FFFFFF"/>
                </a:solidFill>
                <a:latin typeface="Segoe UI" panose="020B0502040204020203"/>
              </a:defRPr>
            </a:pPr>
            <a:r>
              <a:t>DocuTrack</a:t>
            </a:r>
          </a:p>
        </p:txBody>
      </p:sp>
      <p:sp>
        <p:nvSpPr>
          <p:cNvPr id="6" name="Rectangle 5"/>
          <p:cNvSpPr/>
          <p:nvPr/>
        </p:nvSpPr>
        <p:spPr>
          <a:xfrm>
            <a:off x="4754880" y="3931920"/>
            <a:ext cx="256032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206240"/>
            <a:ext cx="9144000" cy="640080"/>
          </a:xfrm>
          <a:prstGeom prst="rect">
            <a:avLst/>
          </a:prstGeom>
          <a:noFill/>
        </p:spPr>
        <p:txBody>
          <a:bodyPr wrap="square">
            <a:spAutoFit/>
          </a:bodyPr>
          <a:lstStyle/>
          <a:p>
            <a:pPr algn="ctr">
              <a:defRPr sz="2200" b="0">
                <a:solidFill>
                  <a:srgbClr val="81E6D9"/>
                </a:solidFill>
                <a:latin typeface="Segoe UI" panose="020B0502040204020203"/>
              </a:defRPr>
            </a:pPr>
            <a:r>
              <a:t>Document Tracking &amp; Management System</a:t>
            </a:r>
          </a:p>
        </p:txBody>
      </p:sp>
      <p:sp>
        <p:nvSpPr>
          <p:cNvPr id="8" name="TextBox 7"/>
          <p:cNvSpPr txBox="1"/>
          <p:nvPr/>
        </p:nvSpPr>
        <p:spPr>
          <a:xfrm>
            <a:off x="1371600" y="4937760"/>
            <a:ext cx="9144000" cy="548640"/>
          </a:xfrm>
          <a:prstGeom prst="rect">
            <a:avLst/>
          </a:prstGeom>
          <a:noFill/>
        </p:spPr>
        <p:txBody>
          <a:bodyPr wrap="square">
            <a:spAutoFit/>
          </a:bodyPr>
          <a:lstStyle/>
          <a:p>
            <a:pPr algn="ctr">
              <a:defRPr sz="1600" b="0">
                <a:solidFill>
                  <a:srgbClr val="A0AEC0"/>
                </a:solidFill>
                <a:latin typeface="Segoe UI" panose="020B0502040204020203"/>
              </a:defRPr>
            </a:pPr>
            <a:r>
              <a:t>A comprehensive DSA-powered console application in Java</a:t>
            </a:r>
          </a:p>
        </p:txBody>
      </p:sp>
      <p:sp>
        <p:nvSpPr>
          <p:cNvPr id="9" name="Rounded Rectangle 8"/>
          <p:cNvSpPr/>
          <p:nvPr/>
        </p:nvSpPr>
        <p:spPr>
          <a:xfrm>
            <a:off x="0" y="6492240"/>
            <a:ext cx="12191695" cy="36576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510528"/>
            <a:ext cx="10058400" cy="320040"/>
          </a:xfrm>
          <a:prstGeom prst="rect">
            <a:avLst/>
          </a:prstGeom>
          <a:noFill/>
        </p:spPr>
        <p:txBody>
          <a:bodyPr wrap="square">
            <a:spAutoFit/>
          </a:bodyPr>
          <a:lstStyle/>
          <a:p>
            <a:pPr algn="ctr">
              <a:defRPr sz="1200" b="0">
                <a:solidFill>
                  <a:srgbClr val="A0AEC0"/>
                </a:solidFill>
                <a:latin typeface="Segoe UI" panose="020B0502040204020203"/>
              </a:defRPr>
            </a:pPr>
            <a:r>
              <a:t>Java SE 21  •  Console Application  •  6 CO Modules  •  20+ DSA Implementations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panose="020B0502040204020203"/>
              </a:defRPr>
            </a:pPr>
            <a:r>
              <a:t>Project Overview</a:t>
            </a:r>
          </a:p>
        </p:txBody>
      </p:sp>
      <p:sp>
        <p:nvSpPr>
          <p:cNvPr id="4" name="Rectangle 3"/>
          <p:cNvSpPr/>
          <p:nvPr/>
        </p:nvSpPr>
        <p:spPr>
          <a:xfrm>
            <a:off x="731520" y="100584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515600" cy="731520"/>
          </a:xfrm>
          <a:prstGeom prst="rect">
            <a:avLst/>
          </a:prstGeom>
          <a:noFill/>
        </p:spPr>
        <p:txBody>
          <a:bodyPr wrap="square">
            <a:spAutoFit/>
          </a:bodyPr>
          <a:lstStyle/>
          <a:p>
            <a:pPr algn="l">
              <a:defRPr sz="1500" b="0">
                <a:solidFill>
                  <a:srgbClr val="CBD5E0"/>
                </a:solidFill>
                <a:latin typeface="Segoe UI" panose="020B0502040204020203"/>
              </a:defRPr>
            </a:pPr>
            <a:r>
              <a:t>DocuTrack is a Java SE 21 console application that demonstrates the practical application of Data Structures &amp; Algorithms to a real-world document management problem.</a:t>
            </a:r>
          </a:p>
        </p:txBody>
      </p:sp>
      <p:graphicFrame>
        <p:nvGraphicFramePr>
          <p:cNvPr id="6" name="Table 5"/>
          <p:cNvGraphicFramePr>
            <a:graphicFrameLocks noGrp="1"/>
          </p:cNvGraphicFramePr>
          <p:nvPr/>
        </p:nvGraphicFramePr>
        <p:xfrm>
          <a:off x="731520" y="2286000"/>
          <a:ext cx="10698480" cy="2688336"/>
        </p:xfrm>
        <a:graphic>
          <a:graphicData uri="http://schemas.openxmlformats.org/drawingml/2006/table">
            <a:tbl>
              <a:tblPr firstRow="1" bandRow="1">
                <a:tableStyleId>{5C22544A-7EE6-4342-B048-85BDC9FD1C3A}</a:tableStyleId>
              </a:tblPr>
              <a:tblGrid>
                <a:gridCol w="1097280"/>
                <a:gridCol w="2286000"/>
                <a:gridCol w="7315200"/>
              </a:tblGrid>
              <a:tr h="384048">
                <a:tc>
                  <a:txBody>
                    <a:bodyPr/>
                    <a:lstStyle/>
                    <a:p>
                      <a:pPr algn="ctr">
                        <a:defRPr sz="1200" b="1">
                          <a:solidFill>
                            <a:srgbClr val="81E6D9"/>
                          </a:solidFill>
                          <a:latin typeface="Segoe UI" panose="020B0502040204020203"/>
                        </a:defRPr>
                      </a:pPr>
                      <a:r>
                        <a:t>CO</a:t>
                      </a:r>
                    </a:p>
                  </a:txBody>
                  <a:tcPr anchor="ctr">
                    <a:solidFill>
                      <a:srgbClr val="1A365D"/>
                    </a:solidFill>
                  </a:tcPr>
                </a:tc>
                <a:tc>
                  <a:txBody>
                    <a:bodyPr/>
                    <a:lstStyle/>
                    <a:p>
                      <a:pPr algn="ctr">
                        <a:defRPr sz="1200" b="1">
                          <a:solidFill>
                            <a:srgbClr val="81E6D9"/>
                          </a:solidFill>
                          <a:latin typeface="Segoe UI" panose="020B0502040204020203"/>
                        </a:defRPr>
                      </a:pPr>
                      <a:r>
                        <a:t>Focus Area</a:t>
                      </a:r>
                    </a:p>
                  </a:txBody>
                  <a:tcPr anchor="ctr">
                    <a:solidFill>
                      <a:srgbClr val="1A365D"/>
                    </a:solidFill>
                  </a:tcPr>
                </a:tc>
                <a:tc>
                  <a:txBody>
                    <a:bodyPr/>
                    <a:lstStyle/>
                    <a:p>
                      <a:pPr algn="ctr">
                        <a:defRPr sz="1200" b="1">
                          <a:solidFill>
                            <a:srgbClr val="81E6D9"/>
                          </a:solidFill>
                          <a:latin typeface="Segoe UI" panose="020B0502040204020203"/>
                        </a:defRPr>
                      </a:pPr>
                      <a:r>
                        <a:t>Data Structures &amp; Algorithms</a:t>
                      </a:r>
                    </a:p>
                  </a:txBody>
                  <a:tcPr anchor="ctr">
                    <a:solidFill>
                      <a:srgbClr val="1A365D"/>
                    </a:solidFill>
                  </a:tcPr>
                </a:tc>
              </a:tr>
              <a:tr h="384048">
                <a:tc>
                  <a:txBody>
                    <a:bodyPr/>
                    <a:lstStyle/>
                    <a:p>
                      <a:pPr algn="ctr">
                        <a:defRPr sz="1200">
                          <a:solidFill>
                            <a:srgbClr val="CBD5E0"/>
                          </a:solidFill>
                          <a:latin typeface="Segoe UI" panose="020B0502040204020203"/>
                        </a:defRPr>
                      </a:pPr>
                      <a:r>
                        <a:t>CO1</a:t>
                      </a:r>
                    </a:p>
                  </a:txBody>
                  <a:tcPr anchor="ctr">
                    <a:solidFill>
                      <a:srgbClr val="1E3A5F"/>
                    </a:solidFill>
                  </a:tcPr>
                </a:tc>
                <a:tc>
                  <a:txBody>
                    <a:bodyPr/>
                    <a:lstStyle/>
                    <a:p>
                      <a:pPr algn="ctr">
                        <a:defRPr sz="1200">
                          <a:solidFill>
                            <a:srgbClr val="CBD5E0"/>
                          </a:solidFill>
                          <a:latin typeface="Segoe UI" panose="020B0502040204020203"/>
                        </a:defRPr>
                      </a:pPr>
                      <a:r>
                        <a:t>Document Indexing</a:t>
                      </a:r>
                    </a:p>
                  </a:txBody>
                  <a:tcPr anchor="ctr">
                    <a:solidFill>
                      <a:srgbClr val="1E3A5F"/>
                    </a:solidFill>
                  </a:tcPr>
                </a:tc>
                <a:tc>
                  <a:txBody>
                    <a:bodyPr/>
                    <a:lstStyle/>
                    <a:p>
                      <a:pPr algn="ctr">
                        <a:defRPr sz="1200">
                          <a:solidFill>
                            <a:srgbClr val="CBD5E0"/>
                          </a:solidFill>
                          <a:latin typeface="Segoe UI" panose="020B0502040204020203"/>
                        </a:defRPr>
                      </a:pPr>
                      <a:r>
                        <a:t>BST, AVL Tree</a:t>
                      </a:r>
                    </a:p>
                  </a:txBody>
                  <a:tcPr anchor="ctr">
                    <a:solidFill>
                      <a:srgbClr val="1E3A5F"/>
                    </a:solidFill>
                  </a:tcPr>
                </a:tc>
              </a:tr>
              <a:tr h="384048">
                <a:tc>
                  <a:txBody>
                    <a:bodyPr/>
                    <a:lstStyle/>
                    <a:p>
                      <a:pPr algn="ctr">
                        <a:defRPr sz="1200">
                          <a:solidFill>
                            <a:srgbClr val="CBD5E0"/>
                          </a:solidFill>
                          <a:latin typeface="Segoe UI" panose="020B0502040204020203"/>
                        </a:defRPr>
                      </a:pPr>
                      <a:r>
                        <a:t>CO2</a:t>
                      </a:r>
                    </a:p>
                  </a:txBody>
                  <a:tcPr anchor="ctr">
                    <a:solidFill>
                      <a:srgbClr val="162A45"/>
                    </a:solidFill>
                  </a:tcPr>
                </a:tc>
                <a:tc>
                  <a:txBody>
                    <a:bodyPr/>
                    <a:lstStyle/>
                    <a:p>
                      <a:pPr algn="ctr">
                        <a:defRPr sz="1200">
                          <a:solidFill>
                            <a:srgbClr val="CBD5E0"/>
                          </a:solidFill>
                          <a:latin typeface="Segoe UI" panose="020B0502040204020203"/>
                        </a:defRPr>
                      </a:pPr>
                      <a:r>
                        <a:t>Analytics</a:t>
                      </a:r>
                    </a:p>
                  </a:txBody>
                  <a:tcPr anchor="ctr">
                    <a:solidFill>
                      <a:srgbClr val="162A45"/>
                    </a:solidFill>
                  </a:tcPr>
                </a:tc>
                <a:tc>
                  <a:txBody>
                    <a:bodyPr/>
                    <a:lstStyle/>
                    <a:p>
                      <a:pPr algn="ctr">
                        <a:defRPr sz="1200">
                          <a:solidFill>
                            <a:srgbClr val="CBD5E0"/>
                          </a:solidFill>
                          <a:latin typeface="Segoe UI" panose="020B0502040204020203"/>
                        </a:defRPr>
                      </a:pPr>
                      <a:r>
                        <a:t>Fenwick Tree, Segment Tree, B-Tree, B+ Tree</a:t>
                      </a:r>
                    </a:p>
                  </a:txBody>
                  <a:tcPr anchor="ctr">
                    <a:solidFill>
                      <a:srgbClr val="162A45"/>
                    </a:solidFill>
                  </a:tcPr>
                </a:tc>
              </a:tr>
              <a:tr h="384048">
                <a:tc>
                  <a:txBody>
                    <a:bodyPr/>
                    <a:lstStyle/>
                    <a:p>
                      <a:pPr algn="ctr">
                        <a:defRPr sz="1200">
                          <a:solidFill>
                            <a:srgbClr val="CBD5E0"/>
                          </a:solidFill>
                          <a:latin typeface="Segoe UI" panose="020B0502040204020203"/>
                        </a:defRPr>
                      </a:pPr>
                      <a:r>
                        <a:t>CO3</a:t>
                      </a:r>
                    </a:p>
                  </a:txBody>
                  <a:tcPr anchor="ctr">
                    <a:solidFill>
                      <a:srgbClr val="1E3A5F"/>
                    </a:solidFill>
                  </a:tcPr>
                </a:tc>
                <a:tc>
                  <a:txBody>
                    <a:bodyPr/>
                    <a:lstStyle/>
                    <a:p>
                      <a:pPr algn="ctr">
                        <a:defRPr sz="1200">
                          <a:solidFill>
                            <a:srgbClr val="CBD5E0"/>
                          </a:solidFill>
                          <a:latin typeface="Segoe UI" panose="020B0502040204020203"/>
                        </a:defRPr>
                      </a:pPr>
                      <a:r>
                        <a:t>Document Network</a:t>
                      </a:r>
                    </a:p>
                  </a:txBody>
                  <a:tcPr anchor="ctr">
                    <a:solidFill>
                      <a:srgbClr val="1E3A5F"/>
                    </a:solidFill>
                  </a:tcPr>
                </a:tc>
                <a:tc>
                  <a:txBody>
                    <a:bodyPr/>
                    <a:lstStyle/>
                    <a:p>
                      <a:pPr algn="ctr">
                        <a:defRPr sz="1200">
                          <a:solidFill>
                            <a:srgbClr val="CBD5E0"/>
                          </a:solidFill>
                          <a:latin typeface="Segoe UI" panose="020B0502040204020203"/>
                        </a:defRPr>
                      </a:pPr>
                      <a:r>
                        <a:t>Graph (Adjacency List), BFS, DFS, MST</a:t>
                      </a:r>
                    </a:p>
                  </a:txBody>
                  <a:tcPr anchor="ctr">
                    <a:solidFill>
                      <a:srgbClr val="1E3A5F"/>
                    </a:solidFill>
                  </a:tcPr>
                </a:tc>
              </a:tr>
              <a:tr h="384048">
                <a:tc>
                  <a:txBody>
                    <a:bodyPr/>
                    <a:lstStyle/>
                    <a:p>
                      <a:pPr algn="ctr">
                        <a:defRPr sz="1200">
                          <a:solidFill>
                            <a:srgbClr val="CBD5E0"/>
                          </a:solidFill>
                          <a:latin typeface="Segoe UI" panose="020B0502040204020203"/>
                        </a:defRPr>
                      </a:pPr>
                      <a:r>
                        <a:t>CO4</a:t>
                      </a:r>
                    </a:p>
                  </a:txBody>
                  <a:tcPr anchor="ctr">
                    <a:solidFill>
                      <a:srgbClr val="162A45"/>
                    </a:solidFill>
                  </a:tcPr>
                </a:tc>
                <a:tc>
                  <a:txBody>
                    <a:bodyPr/>
                    <a:lstStyle/>
                    <a:p>
                      <a:pPr algn="ctr">
                        <a:defRPr sz="1200">
                          <a:solidFill>
                            <a:srgbClr val="CBD5E0"/>
                          </a:solidFill>
                          <a:latin typeface="Segoe UI" panose="020B0502040204020203"/>
                        </a:defRPr>
                      </a:pPr>
                      <a:r>
                        <a:t>Path Optimization</a:t>
                      </a:r>
                    </a:p>
                  </a:txBody>
                  <a:tcPr anchor="ctr">
                    <a:solidFill>
                      <a:srgbClr val="162A45"/>
                    </a:solidFill>
                  </a:tcPr>
                </a:tc>
                <a:tc>
                  <a:txBody>
                    <a:bodyPr/>
                    <a:lstStyle/>
                    <a:p>
                      <a:pPr algn="ctr">
                        <a:defRPr sz="1200">
                          <a:solidFill>
                            <a:srgbClr val="CBD5E0"/>
                          </a:solidFill>
                          <a:latin typeface="Segoe UI" panose="020B0502040204020203"/>
                        </a:defRPr>
                      </a:pPr>
                      <a:r>
                        <a:t>Dijkstra, Bellman-Ford, Floyd-Warshall, Topological Sort</a:t>
                      </a:r>
                    </a:p>
                  </a:txBody>
                  <a:tcPr anchor="ctr">
                    <a:solidFill>
                      <a:srgbClr val="162A45"/>
                    </a:solidFill>
                  </a:tcPr>
                </a:tc>
              </a:tr>
              <a:tr h="384048">
                <a:tc>
                  <a:txBody>
                    <a:bodyPr/>
                    <a:lstStyle/>
                    <a:p>
                      <a:pPr algn="ctr">
                        <a:defRPr sz="1200">
                          <a:solidFill>
                            <a:srgbClr val="CBD5E0"/>
                          </a:solidFill>
                          <a:latin typeface="Segoe UI" panose="020B0502040204020203"/>
                        </a:defRPr>
                      </a:pPr>
                      <a:r>
                        <a:t>CO5</a:t>
                      </a:r>
                    </a:p>
                  </a:txBody>
                  <a:tcPr anchor="ctr">
                    <a:solidFill>
                      <a:srgbClr val="1E3A5F"/>
                    </a:solidFill>
                  </a:tcPr>
                </a:tc>
                <a:tc>
                  <a:txBody>
                    <a:bodyPr/>
                    <a:lstStyle/>
                    <a:p>
                      <a:pPr algn="ctr">
                        <a:defRPr sz="1200">
                          <a:solidFill>
                            <a:srgbClr val="CBD5E0"/>
                          </a:solidFill>
                          <a:latin typeface="Segoe UI" panose="020B0502040204020203"/>
                        </a:defRPr>
                      </a:pPr>
                      <a:r>
                        <a:t>Sorting &amp; Ranking</a:t>
                      </a:r>
                    </a:p>
                  </a:txBody>
                  <a:tcPr anchor="ctr">
                    <a:solidFill>
                      <a:srgbClr val="1E3A5F"/>
                    </a:solidFill>
                  </a:tcPr>
                </a:tc>
                <a:tc>
                  <a:txBody>
                    <a:bodyPr/>
                    <a:lstStyle/>
                    <a:p>
                      <a:pPr algn="ctr">
                        <a:defRPr sz="1200">
                          <a:solidFill>
                            <a:srgbClr val="CBD5E0"/>
                          </a:solidFill>
                          <a:latin typeface="Segoe UI" panose="020B0502040204020203"/>
                        </a:defRPr>
                      </a:pPr>
                      <a:r>
                        <a:t>Merge Sort, Quick Sort, Heap Sort, Radix Sort</a:t>
                      </a:r>
                    </a:p>
                  </a:txBody>
                  <a:tcPr anchor="ctr">
                    <a:solidFill>
                      <a:srgbClr val="1E3A5F"/>
                    </a:solidFill>
                  </a:tcPr>
                </a:tc>
              </a:tr>
              <a:tr h="384048">
                <a:tc>
                  <a:txBody>
                    <a:bodyPr/>
                    <a:lstStyle/>
                    <a:p>
                      <a:pPr algn="ctr">
                        <a:defRPr sz="1200">
                          <a:solidFill>
                            <a:srgbClr val="CBD5E0"/>
                          </a:solidFill>
                          <a:latin typeface="Segoe UI" panose="020B0502040204020203"/>
                        </a:defRPr>
                      </a:pPr>
                      <a:r>
                        <a:t>CO6</a:t>
                      </a:r>
                    </a:p>
                  </a:txBody>
                  <a:tcPr anchor="ctr">
                    <a:solidFill>
                      <a:srgbClr val="162A45"/>
                    </a:solidFill>
                  </a:tcPr>
                </a:tc>
                <a:tc>
                  <a:txBody>
                    <a:bodyPr/>
                    <a:lstStyle/>
                    <a:p>
                      <a:pPr algn="ctr">
                        <a:defRPr sz="1200">
                          <a:solidFill>
                            <a:srgbClr val="CBD5E0"/>
                          </a:solidFill>
                          <a:latin typeface="Segoe UI" panose="020B0502040204020203"/>
                        </a:defRPr>
                      </a:pPr>
                      <a:r>
                        <a:t>Storage Optimization</a:t>
                      </a:r>
                    </a:p>
                  </a:txBody>
                  <a:tcPr anchor="ctr">
                    <a:solidFill>
                      <a:srgbClr val="162A45"/>
                    </a:solidFill>
                  </a:tcPr>
                </a:tc>
                <a:tc>
                  <a:txBody>
                    <a:bodyPr/>
                    <a:lstStyle/>
                    <a:p>
                      <a:pPr algn="ctr">
                        <a:defRPr sz="1200">
                          <a:solidFill>
                            <a:srgbClr val="CBD5E0"/>
                          </a:solidFill>
                          <a:latin typeface="Segoe UI" panose="020B0502040204020203"/>
                        </a:defRPr>
                      </a:pPr>
                      <a:r>
                        <a:t>Activity Selection, Fractional Knapsack, 0/1 Knapsack, LIS</a:t>
                      </a:r>
                    </a:p>
                  </a:txBody>
                  <a:tcPr anchor="ctr">
                    <a:solidFill>
                      <a:srgbClr val="162A45"/>
                    </a:solidFill>
                  </a:tcPr>
                </a:tc>
              </a:tr>
            </a:tbl>
          </a:graphicData>
        </a:graphic>
      </p:graphicFrame>
      <p:sp>
        <p:nvSpPr>
          <p:cNvPr id="7" name="Rounded Rectangle 6"/>
          <p:cNvSpPr/>
          <p:nvPr/>
        </p:nvSpPr>
        <p:spPr>
          <a:xfrm>
            <a:off x="731520" y="5486400"/>
            <a:ext cx="10515600" cy="64008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32120"/>
            <a:ext cx="10058400" cy="548640"/>
          </a:xfrm>
          <a:prstGeom prst="rect">
            <a:avLst/>
          </a:prstGeom>
          <a:noFill/>
        </p:spPr>
        <p:txBody>
          <a:bodyPr wrap="square">
            <a:spAutoFit/>
          </a:bodyPr>
          <a:lstStyle/>
          <a:p>
            <a:pPr algn="l">
              <a:defRPr sz="1300" b="0">
                <a:solidFill>
                  <a:srgbClr val="81E6D9"/>
                </a:solidFill>
                <a:latin typeface="Segoe UI" panose="020B0502040204020203"/>
              </a:defRPr>
            </a:pPr>
            <a:r>
              <a:t>🔑  All modules share a single, unified document pool — inserting in BST makes data available to Graph, Path, Analytics, and all COs.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panose="020B0502040204020203"/>
              </a:defRPr>
            </a:pPr>
            <a:r>
              <a:t>Project Structure &amp; Data Model</a:t>
            </a:r>
          </a:p>
        </p:txBody>
      </p:sp>
      <p:sp>
        <p:nvSpPr>
          <p:cNvPr id="4" name="Rectangle 3"/>
          <p:cNvSpPr/>
          <p:nvPr/>
        </p:nvSpPr>
        <p:spPr>
          <a:xfrm>
            <a:off x="731520" y="100584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80160"/>
            <a:ext cx="6858000" cy="384048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6400800" cy="3657600"/>
          </a:xfrm>
          <a:prstGeom prst="rect">
            <a:avLst/>
          </a:prstGeom>
          <a:noFill/>
        </p:spPr>
        <p:txBody>
          <a:bodyPr wrap="square">
            <a:spAutoFit/>
          </a:bodyPr>
          <a:lstStyle/>
          <a:p>
            <a:pPr algn="l">
              <a:defRPr sz="1300" b="0">
                <a:solidFill>
                  <a:srgbClr val="68D391"/>
                </a:solidFill>
                <a:latin typeface="Consolas" panose="020B0609020204030204"/>
              </a:defRPr>
            </a:pPr>
            <a:r>
              <a:t>DocuTrack/src/</a:t>
            </a:r>
            <a:br/>
            <a:r>
              <a:t>├── app/Main.java                  ← Entry point &amp; menus</a:t>
            </a:r>
            <a:br/>
            <a:r>
              <a:t>├── models/Document.java           ← Core data model</a:t>
            </a:r>
            <a:br/>
            <a:r>
              <a:t>└── modules/</a:t>
            </a:r>
            <a:br/>
            <a:r>
              <a:t>    ├── indexing/bst/  (BST, BSTNode)</a:t>
            </a:r>
            <a:br/>
            <a:r>
              <a:t>    ├── indexing/avl/  (AVLTree, AVLNode)</a:t>
            </a:r>
            <a:br/>
            <a:r>
              <a:t>    ├── analytics/     (Fenwick, Segment, BTree, B+Tree)</a:t>
            </a:r>
            <a:br/>
            <a:r>
              <a:t>    ├── graph/         (Graph, BFS, DFS, MST)</a:t>
            </a:r>
            <a:br/>
            <a:r>
              <a:t>    ├── path/          (Dijkstra, BellmanFord, FloydWarshall, TopologicalSort)</a:t>
            </a:r>
            <a:br/>
            <a:r>
              <a:t>    ├── sorting/       (MergeSort, QuickSort, HeapSort, RadixSort)</a:t>
            </a:r>
            <a:br/>
            <a:r>
              <a:t>    └── optimization/  (ActivitySelection, FractionalKnapsack, Knapsack01, LIS)</a:t>
            </a:r>
          </a:p>
        </p:txBody>
      </p:sp>
      <p:sp>
        <p:nvSpPr>
          <p:cNvPr id="7" name="Rounded Rectangle 6"/>
          <p:cNvSpPr/>
          <p:nvPr/>
        </p:nvSpPr>
        <p:spPr>
          <a:xfrm>
            <a:off x="7772400" y="1280160"/>
            <a:ext cx="3931920" cy="384048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386840"/>
            <a:ext cx="3474720" cy="457200"/>
          </a:xfrm>
          <a:prstGeom prst="rect">
            <a:avLst/>
          </a:prstGeom>
          <a:noFill/>
        </p:spPr>
        <p:txBody>
          <a:bodyPr wrap="square">
            <a:spAutoFit/>
          </a:bodyPr>
          <a:lstStyle/>
          <a:p>
            <a:pPr algn="l">
              <a:defRPr sz="2000" b="1">
                <a:solidFill>
                  <a:srgbClr val="81E6D9"/>
                </a:solidFill>
                <a:latin typeface="Segoe UI" panose="020B0502040204020203"/>
              </a:defRPr>
            </a:pPr>
            <a:r>
              <a:t>models.Document</a:t>
            </a:r>
          </a:p>
        </p:txBody>
      </p:sp>
      <p:sp>
        <p:nvSpPr>
          <p:cNvPr id="9" name="TextBox 8"/>
          <p:cNvSpPr txBox="1"/>
          <p:nvPr/>
        </p:nvSpPr>
        <p:spPr>
          <a:xfrm>
            <a:off x="8046720" y="1844040"/>
            <a:ext cx="3474720" cy="2926080"/>
          </a:xfrm>
          <a:prstGeom prst="rect">
            <a:avLst/>
          </a:prstGeom>
          <a:noFill/>
        </p:spPr>
        <p:txBody>
          <a:bodyPr wrap="square">
            <a:spAutoFit/>
          </a:bodyPr>
          <a:lstStyle/>
          <a:p>
            <a:pPr>
              <a:spcAft>
                <a:spcPts val="600"/>
              </a:spcAft>
              <a:defRPr sz="1200">
                <a:solidFill>
                  <a:srgbClr val="CBD5E0"/>
                </a:solidFill>
                <a:latin typeface="Segoe UI" panose="020B0502040204020203"/>
              </a:defRPr>
            </a:pPr>
            <a:r>
              <a:t>Fields:</a:t>
            </a:r>
          </a:p>
          <a:p>
            <a:pPr>
              <a:spcAft>
                <a:spcPts val="600"/>
              </a:spcAft>
              <a:defRPr sz="1200">
                <a:solidFill>
                  <a:srgbClr val="CBD5E0"/>
                </a:solidFill>
                <a:latin typeface="Segoe UI" panose="020B0502040204020203"/>
              </a:defRPr>
            </a:pPr>
            <a:r>
              <a:t>  • documentId : int</a:t>
            </a:r>
          </a:p>
          <a:p>
            <a:pPr>
              <a:spcAft>
                <a:spcPts val="600"/>
              </a:spcAft>
              <a:defRPr sz="1200">
                <a:solidFill>
                  <a:srgbClr val="CBD5E0"/>
                </a:solidFill>
                <a:latin typeface="Segoe UI" panose="020B0502040204020203"/>
              </a:defRPr>
            </a:pPr>
            <a:r>
              <a:t>  • title : String</a:t>
            </a:r>
          </a:p>
          <a:p>
            <a:pPr>
              <a:spcAft>
                <a:spcPts val="600"/>
              </a:spcAft>
              <a:defRPr sz="1200">
                <a:solidFill>
                  <a:srgbClr val="CBD5E0"/>
                </a:solidFill>
                <a:latin typeface="Segoe UI" panose="020B0502040204020203"/>
              </a:defRPr>
            </a:pPr>
            <a:r>
              <a:t>  • author : String</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Methods:</a:t>
            </a:r>
          </a:p>
          <a:p>
            <a:pPr>
              <a:spcAft>
                <a:spcPts val="600"/>
              </a:spcAft>
              <a:defRPr sz="1200">
                <a:solidFill>
                  <a:srgbClr val="CBD5E0"/>
                </a:solidFill>
                <a:latin typeface="Segoe UI" panose="020B0502040204020203"/>
              </a:defRPr>
            </a:pPr>
            <a:r>
              <a:t>  • Document(id, title, author)</a:t>
            </a:r>
          </a:p>
          <a:p>
            <a:pPr>
              <a:spcAft>
                <a:spcPts val="600"/>
              </a:spcAft>
              <a:defRPr sz="1200">
                <a:solidFill>
                  <a:srgbClr val="CBD5E0"/>
                </a:solidFill>
                <a:latin typeface="Segoe UI" panose="020B0502040204020203"/>
              </a:defRPr>
            </a:pPr>
            <a:r>
              <a:t>  • toString()</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Output Format:</a:t>
            </a:r>
          </a:p>
          <a:p>
            <a:pPr>
              <a:spcAft>
                <a:spcPts val="600"/>
              </a:spcAft>
              <a:defRPr sz="1200">
                <a:solidFill>
                  <a:srgbClr val="CBD5E0"/>
                </a:solidFill>
                <a:latin typeface="Segoe UI" panose="020B0502040204020203"/>
              </a:defRPr>
            </a:pPr>
            <a:r>
              <a:t>  "ID: 101, Title: Report Q1,</a:t>
            </a:r>
          </a:p>
          <a:p>
            <a:pPr>
              <a:spcAft>
                <a:spcPts val="600"/>
              </a:spcAft>
              <a:defRPr sz="1200">
                <a:solidFill>
                  <a:srgbClr val="CBD5E0"/>
                </a:solidFill>
                <a:latin typeface="Segoe UI" panose="020B0502040204020203"/>
              </a:defRPr>
            </a:pPr>
            <a:r>
              <a:t>   Author: Alice"</a:t>
            </a:r>
          </a:p>
        </p:txBody>
      </p:sp>
      <p:sp>
        <p:nvSpPr>
          <p:cNvPr id="10" name="Rounded Rectangle 9"/>
          <p:cNvSpPr/>
          <p:nvPr/>
        </p:nvSpPr>
        <p:spPr>
          <a:xfrm>
            <a:off x="548640" y="5394960"/>
            <a:ext cx="11155680" cy="109728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440680"/>
            <a:ext cx="2743200" cy="365760"/>
          </a:xfrm>
          <a:prstGeom prst="rect">
            <a:avLst/>
          </a:prstGeom>
          <a:noFill/>
        </p:spPr>
        <p:txBody>
          <a:bodyPr wrap="square">
            <a:spAutoFit/>
          </a:bodyPr>
          <a:lstStyle/>
          <a:p>
            <a:pPr algn="l">
              <a:defRPr sz="1800" b="1">
                <a:solidFill>
                  <a:srgbClr val="EDD88B"/>
                </a:solidFill>
                <a:latin typeface="Segoe UI" panose="020B0502040204020203"/>
              </a:defRPr>
            </a:pPr>
            <a:r>
              <a:t>Authentication &amp; Roles</a:t>
            </a:r>
          </a:p>
        </p:txBody>
      </p:sp>
      <p:sp>
        <p:nvSpPr>
          <p:cNvPr id="12" name="TextBox 11"/>
          <p:cNvSpPr txBox="1"/>
          <p:nvPr/>
        </p:nvSpPr>
        <p:spPr>
          <a:xfrm>
            <a:off x="822960" y="5806440"/>
            <a:ext cx="10515600" cy="640080"/>
          </a:xfrm>
          <a:prstGeom prst="rect">
            <a:avLst/>
          </a:prstGeom>
          <a:noFill/>
        </p:spPr>
        <p:txBody>
          <a:bodyPr wrap="square">
            <a:spAutoFit/>
          </a:bodyPr>
          <a:lstStyle/>
          <a:p>
            <a:pPr algn="l">
              <a:defRPr sz="1300" b="0">
                <a:solidFill>
                  <a:srgbClr val="CBD5E0"/>
                </a:solidFill>
                <a:latin typeface="Segoe UI" panose="020B0502040204020203"/>
              </a:defRPr>
            </a:pPr>
            <a:r>
              <a:t>Admin (admin / admin123) → Full access to all 6 CO modules + document CRUD    |    User (user / user123) → Read-only: Search &amp; View documents only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828800" cy="457200"/>
          </a:xfrm>
          <a:prstGeom prst="rect">
            <a:avLst/>
          </a:prstGeom>
          <a:noFill/>
        </p:spPr>
        <p:txBody>
          <a:bodyPr wrap="square">
            <a:spAutoFit/>
          </a:bodyPr>
          <a:lstStyle/>
          <a:p>
            <a:pPr algn="l">
              <a:defRPr sz="1600" b="1">
                <a:solidFill>
                  <a:srgbClr val="38B2AC"/>
                </a:solidFill>
                <a:latin typeface="Segoe UI" panose="020B0502040204020203"/>
              </a:defRPr>
            </a:pPr>
            <a:r>
              <a:t>CO1</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Document Indexing — BST &amp; AVL Tree</a:t>
            </a:r>
          </a:p>
        </p:txBody>
      </p:sp>
      <p:sp>
        <p:nvSpPr>
          <p:cNvPr id="5" name="Rectangle 4"/>
          <p:cNvSpPr/>
          <p:nvPr/>
        </p:nvSpPr>
        <p:spPr>
          <a:xfrm>
            <a:off x="731520" y="118872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303520" cy="484632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457200"/>
          </a:xfrm>
          <a:prstGeom prst="rect">
            <a:avLst/>
          </a:prstGeom>
          <a:noFill/>
        </p:spPr>
        <p:txBody>
          <a:bodyPr wrap="square">
            <a:spAutoFit/>
          </a:bodyPr>
          <a:lstStyle/>
          <a:p>
            <a:pPr algn="l">
              <a:defRPr sz="2000" b="1">
                <a:solidFill>
                  <a:srgbClr val="81E6D9"/>
                </a:solidFill>
                <a:latin typeface="Segoe UI" panose="020B0502040204020203"/>
              </a:defRPr>
            </a:pPr>
            <a:r>
              <a:t>Binary Search Tree (BST)</a:t>
            </a:r>
          </a:p>
        </p:txBody>
      </p:sp>
      <p:sp>
        <p:nvSpPr>
          <p:cNvPr id="8" name="TextBox 7"/>
          <p:cNvSpPr txBox="1"/>
          <p:nvPr/>
        </p:nvSpPr>
        <p:spPr>
          <a:xfrm>
            <a:off x="822960" y="2103120"/>
            <a:ext cx="4846320" cy="3931920"/>
          </a:xfrm>
          <a:prstGeom prst="rect">
            <a:avLst/>
          </a:prstGeom>
          <a:noFill/>
        </p:spPr>
        <p:txBody>
          <a:bodyPr wrap="square">
            <a:spAutoFit/>
          </a:bodyPr>
          <a:lstStyle/>
          <a:p>
            <a:pPr>
              <a:spcAft>
                <a:spcPts val="600"/>
              </a:spcAft>
              <a:defRPr sz="1200">
                <a:solidFill>
                  <a:srgbClr val="CBD5E0"/>
                </a:solidFill>
                <a:latin typeface="Segoe UI" panose="020B0502040204020203"/>
              </a:defRPr>
            </a:pPr>
            <a:r>
              <a:t>Classes: BST.java, BSTNode.java</a:t>
            </a:r>
          </a:p>
          <a:p>
            <a:pPr>
              <a:spcAft>
                <a:spcPts val="600"/>
              </a:spcAft>
              <a:defRPr sz="1200">
                <a:solidFill>
                  <a:srgbClr val="CBD5E0"/>
                </a:solidFill>
                <a:latin typeface="Segoe UI" panose="020B0502040204020203"/>
              </a:defRPr>
            </a:pPr>
            <a:r>
              <a:t>Insert — O(h) iterative walk-down</a:t>
            </a:r>
          </a:p>
          <a:p>
            <a:pPr>
              <a:spcAft>
                <a:spcPts val="600"/>
              </a:spcAft>
              <a:defRPr sz="1200">
                <a:solidFill>
                  <a:srgbClr val="CBD5E0"/>
                </a:solidFill>
                <a:latin typeface="Segoe UI" panose="020B0502040204020203"/>
              </a:defRPr>
            </a:pPr>
            <a:r>
              <a:t>Search — O(h) iterative lookup</a:t>
            </a:r>
          </a:p>
          <a:p>
            <a:pPr>
              <a:spcAft>
                <a:spcPts val="600"/>
              </a:spcAft>
              <a:defRPr sz="1200">
                <a:solidFill>
                  <a:srgbClr val="CBD5E0"/>
                </a:solidFill>
                <a:latin typeface="Segoe UI" panose="020B0502040204020203"/>
              </a:defRPr>
            </a:pPr>
            <a:r>
              <a:t>Delete — 3 cases: leaf, one child, two children</a:t>
            </a:r>
          </a:p>
          <a:p>
            <a:pPr>
              <a:spcAft>
                <a:spcPts val="600"/>
              </a:spcAft>
              <a:defRPr sz="1200">
                <a:solidFill>
                  <a:srgbClr val="CBD5E0"/>
                </a:solidFill>
                <a:latin typeface="Segoe UI" panose="020B0502040204020203"/>
              </a:defRPr>
            </a:pPr>
            <a:r>
              <a:t>  → Two children uses in-order predecessor</a:t>
            </a:r>
          </a:p>
          <a:p>
            <a:pPr>
              <a:spcAft>
                <a:spcPts val="600"/>
              </a:spcAft>
              <a:defRPr sz="1200">
                <a:solidFill>
                  <a:srgbClr val="CBD5E0"/>
                </a:solidFill>
                <a:latin typeface="Segoe UI" panose="020B0502040204020203"/>
              </a:defRPr>
            </a:pPr>
            <a:r>
              <a:t>Traversals: Inorder, Preorder, Postorder</a:t>
            </a:r>
          </a:p>
          <a:p>
            <a:pPr>
              <a:spcAft>
                <a:spcPts val="600"/>
              </a:spcAft>
              <a:defRPr sz="1200">
                <a:solidFill>
                  <a:srgbClr val="CBD5E0"/>
                </a:solidFill>
                <a:latin typeface="Segoe UI" panose="020B0502040204020203"/>
              </a:defRPr>
            </a:pPr>
            <a:r>
              <a:t>Min / Max — leftmost / rightmost node</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Menu: Insert, Search, Delete, Inorder,</a:t>
            </a:r>
          </a:p>
          <a:p>
            <a:pPr>
              <a:spcAft>
                <a:spcPts val="600"/>
              </a:spcAft>
              <a:defRPr sz="1200">
                <a:solidFill>
                  <a:srgbClr val="CBD5E0"/>
                </a:solidFill>
                <a:latin typeface="Segoe UI" panose="020B0502040204020203"/>
              </a:defRPr>
            </a:pPr>
            <a:r>
              <a:t>         Minimum, Maximum, Back</a:t>
            </a:r>
          </a:p>
        </p:txBody>
      </p:sp>
      <p:sp>
        <p:nvSpPr>
          <p:cNvPr id="9" name="Rounded Rectangle 8"/>
          <p:cNvSpPr/>
          <p:nvPr/>
        </p:nvSpPr>
        <p:spPr>
          <a:xfrm>
            <a:off x="6217920" y="1463040"/>
            <a:ext cx="5303520" cy="4846320"/>
          </a:xfrm>
          <a:prstGeom prst="roundRect">
            <a:avLst/>
          </a:prstGeom>
          <a:solidFill>
            <a:srgbClr val="162A45"/>
          </a:solidFill>
          <a:ln w="19050">
            <a:solidFill>
              <a:srgbClr val="B79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572000" cy="457200"/>
          </a:xfrm>
          <a:prstGeom prst="rect">
            <a:avLst/>
          </a:prstGeom>
          <a:noFill/>
        </p:spPr>
        <p:txBody>
          <a:bodyPr wrap="square">
            <a:spAutoFit/>
          </a:bodyPr>
          <a:lstStyle/>
          <a:p>
            <a:pPr algn="l">
              <a:defRPr sz="2000" b="1">
                <a:solidFill>
                  <a:srgbClr val="B794F6"/>
                </a:solidFill>
                <a:latin typeface="Segoe UI" panose="020B0502040204020203"/>
              </a:defRPr>
            </a:pPr>
            <a:r>
              <a:t>AVL Tree (Self-Balancing BST)</a:t>
            </a:r>
          </a:p>
        </p:txBody>
      </p:sp>
      <p:sp>
        <p:nvSpPr>
          <p:cNvPr id="11" name="TextBox 10"/>
          <p:cNvSpPr txBox="1"/>
          <p:nvPr/>
        </p:nvSpPr>
        <p:spPr>
          <a:xfrm>
            <a:off x="6492240" y="2103120"/>
            <a:ext cx="4846320" cy="3931920"/>
          </a:xfrm>
          <a:prstGeom prst="rect">
            <a:avLst/>
          </a:prstGeom>
          <a:noFill/>
        </p:spPr>
        <p:txBody>
          <a:bodyPr wrap="square">
            <a:spAutoFit/>
          </a:bodyPr>
          <a:lstStyle/>
          <a:p>
            <a:pPr>
              <a:spcAft>
                <a:spcPts val="600"/>
              </a:spcAft>
              <a:defRPr sz="1200">
                <a:solidFill>
                  <a:srgbClr val="CBD5E0"/>
                </a:solidFill>
                <a:latin typeface="Segoe UI" panose="020B0502040204020203"/>
              </a:defRPr>
            </a:pPr>
            <a:r>
              <a:t>Classes: AVLTree.java, AVLNode.java</a:t>
            </a:r>
          </a:p>
          <a:p>
            <a:pPr>
              <a:spcAft>
                <a:spcPts val="600"/>
              </a:spcAft>
              <a:defRPr sz="1200">
                <a:solidFill>
                  <a:srgbClr val="CBD5E0"/>
                </a:solidFill>
                <a:latin typeface="Segoe UI" panose="020B0502040204020203"/>
              </a:defRPr>
            </a:pPr>
            <a:r>
              <a:t>Insert — O(log n) recursive + rotations</a:t>
            </a:r>
          </a:p>
          <a:p>
            <a:pPr>
              <a:spcAft>
                <a:spcPts val="600"/>
              </a:spcAft>
              <a:defRPr sz="1200">
                <a:solidFill>
                  <a:srgbClr val="CBD5E0"/>
                </a:solidFill>
                <a:latin typeface="Segoe UI" panose="020B0502040204020203"/>
              </a:defRPr>
            </a:pPr>
            <a:r>
              <a:t>Search — O(log n) recursive lookup</a:t>
            </a:r>
          </a:p>
          <a:p>
            <a:pPr>
              <a:spcAft>
                <a:spcPts val="600"/>
              </a:spcAft>
              <a:defRPr sz="1200">
                <a:solidFill>
                  <a:srgbClr val="CBD5E0"/>
                </a:solidFill>
                <a:latin typeface="Segoe UI" panose="020B0502040204020203"/>
              </a:defRPr>
            </a:pPr>
            <a:r>
              <a:t>Guarantees balanced tree (height tracked)</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Rotation Cases:</a:t>
            </a:r>
          </a:p>
          <a:p>
            <a:pPr>
              <a:spcAft>
                <a:spcPts val="600"/>
              </a:spcAft>
              <a:defRPr sz="1200">
                <a:solidFill>
                  <a:srgbClr val="CBD5E0"/>
                </a:solidFill>
                <a:latin typeface="Segoe UI" panose="020B0502040204020203"/>
              </a:defRPr>
            </a:pPr>
            <a:r>
              <a:t>  LL → Right Rotate</a:t>
            </a:r>
          </a:p>
          <a:p>
            <a:pPr>
              <a:spcAft>
                <a:spcPts val="600"/>
              </a:spcAft>
              <a:defRPr sz="1200">
                <a:solidFill>
                  <a:srgbClr val="CBD5E0"/>
                </a:solidFill>
                <a:latin typeface="Segoe UI" panose="020B0502040204020203"/>
              </a:defRPr>
            </a:pPr>
            <a:r>
              <a:t>  RR → Left Rotate</a:t>
            </a:r>
          </a:p>
          <a:p>
            <a:pPr>
              <a:spcAft>
                <a:spcPts val="600"/>
              </a:spcAft>
              <a:defRPr sz="1200">
                <a:solidFill>
                  <a:srgbClr val="CBD5E0"/>
                </a:solidFill>
                <a:latin typeface="Segoe UI" panose="020B0502040204020203"/>
              </a:defRPr>
            </a:pPr>
            <a:r>
              <a:t>  LR → Left Rotate child, then Right Rotate</a:t>
            </a:r>
          </a:p>
          <a:p>
            <a:pPr>
              <a:spcAft>
                <a:spcPts val="600"/>
              </a:spcAft>
              <a:defRPr sz="1200">
                <a:solidFill>
                  <a:srgbClr val="CBD5E0"/>
                </a:solidFill>
                <a:latin typeface="Segoe UI" panose="020B0502040204020203"/>
              </a:defRPr>
            </a:pPr>
            <a:r>
              <a:t>  RL → Right Rotate child, then Left Rotate</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Menu: Insert, Search, Inorder, Back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828800" cy="457200"/>
          </a:xfrm>
          <a:prstGeom prst="rect">
            <a:avLst/>
          </a:prstGeom>
          <a:noFill/>
        </p:spPr>
        <p:txBody>
          <a:bodyPr wrap="square">
            <a:spAutoFit/>
          </a:bodyPr>
          <a:lstStyle/>
          <a:p>
            <a:pPr algn="l">
              <a:defRPr sz="1600" b="1">
                <a:solidFill>
                  <a:srgbClr val="38B2AC"/>
                </a:solidFill>
                <a:latin typeface="Segoe UI" panose="020B0502040204020203"/>
              </a:defRPr>
            </a:pPr>
            <a:r>
              <a:t>CO2</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Analytics — Fenwick, Segment, B-Tree, B+ Tree</a:t>
            </a:r>
          </a:p>
        </p:txBody>
      </p:sp>
      <p:sp>
        <p:nvSpPr>
          <p:cNvPr id="5" name="Rectangle 4"/>
          <p:cNvSpPr/>
          <p:nvPr/>
        </p:nvSpPr>
        <p:spPr>
          <a:xfrm>
            <a:off x="731520" y="118872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303520" cy="219456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38B2AC"/>
                </a:solidFill>
                <a:latin typeface="Segoe UI" panose="020B0502040204020203"/>
              </a:defRPr>
            </a:pPr>
            <a:r>
              <a:t>Fenwick Tree (BIT)</a:t>
            </a:r>
          </a:p>
        </p:txBody>
      </p:sp>
      <p:sp>
        <p:nvSpPr>
          <p:cNvPr id="8" name="TextBox 7"/>
          <p:cNvSpPr txBox="1"/>
          <p:nvPr/>
        </p:nvSpPr>
        <p:spPr>
          <a:xfrm>
            <a:off x="822960" y="196596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Point update + Prefix sum</a:t>
            </a:r>
          </a:p>
          <a:p>
            <a:pPr>
              <a:spcAft>
                <a:spcPts val="600"/>
              </a:spcAft>
              <a:defRPr sz="1200">
                <a:solidFill>
                  <a:srgbClr val="CBD5E0"/>
                </a:solidFill>
                <a:latin typeface="Segoe UI" panose="020B0502040204020203"/>
              </a:defRPr>
            </a:pPr>
            <a:r>
              <a:t>update(i, v) — O(log n)</a:t>
            </a:r>
          </a:p>
          <a:p>
            <a:pPr>
              <a:spcAft>
                <a:spcPts val="600"/>
              </a:spcAft>
              <a:defRPr sz="1200">
                <a:solidFill>
                  <a:srgbClr val="CBD5E0"/>
                </a:solidFill>
                <a:latin typeface="Segoe UI" panose="020B0502040204020203"/>
              </a:defRPr>
            </a:pPr>
            <a:r>
              <a:t>sum(i) — O(log n)</a:t>
            </a:r>
          </a:p>
          <a:p>
            <a:pPr>
              <a:spcAft>
                <a:spcPts val="600"/>
              </a:spcAft>
              <a:defRPr sz="1200">
                <a:solidFill>
                  <a:srgbClr val="CBD5E0"/>
                </a:solidFill>
                <a:latin typeface="Segoe UI" panose="020B0502040204020203"/>
              </a:defRPr>
            </a:pPr>
            <a:r>
              <a:t>rangeSum(l, r)</a:t>
            </a:r>
          </a:p>
          <a:p>
            <a:pPr>
              <a:spcAft>
                <a:spcPts val="600"/>
              </a:spcAft>
              <a:defRPr sz="1200">
                <a:solidFill>
                  <a:srgbClr val="CBD5E0"/>
                </a:solidFill>
                <a:latin typeface="Segoe UI" panose="020B0502040204020203"/>
              </a:defRPr>
            </a:pPr>
            <a:r>
              <a:t>Use: Cumulative doc access counts</a:t>
            </a:r>
          </a:p>
        </p:txBody>
      </p:sp>
      <p:sp>
        <p:nvSpPr>
          <p:cNvPr id="9" name="Rounded Rectangle 8"/>
          <p:cNvSpPr/>
          <p:nvPr/>
        </p:nvSpPr>
        <p:spPr>
          <a:xfrm>
            <a:off x="6217920" y="1463040"/>
            <a:ext cx="5303520" cy="2194560"/>
          </a:xfrm>
          <a:prstGeom prst="roundRect">
            <a:avLst/>
          </a:prstGeom>
          <a:solidFill>
            <a:srgbClr val="162A45"/>
          </a:solidFill>
          <a:ln w="19050">
            <a:solidFill>
              <a:srgbClr val="EDD8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Segment Tree</a:t>
            </a:r>
          </a:p>
        </p:txBody>
      </p:sp>
      <p:sp>
        <p:nvSpPr>
          <p:cNvPr id="11" name="TextBox 10"/>
          <p:cNvSpPr txBox="1"/>
          <p:nvPr/>
        </p:nvSpPr>
        <p:spPr>
          <a:xfrm>
            <a:off x="6492240" y="196596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Range sum queries — O(log n)</a:t>
            </a:r>
          </a:p>
          <a:p>
            <a:pPr>
              <a:spcAft>
                <a:spcPts val="600"/>
              </a:spcAft>
              <a:defRPr sz="1200">
                <a:solidFill>
                  <a:srgbClr val="CBD5E0"/>
                </a:solidFill>
                <a:latin typeface="Segoe UI" panose="020B0502040204020203"/>
              </a:defRPr>
            </a:pPr>
            <a:r>
              <a:t>build() — O(n)</a:t>
            </a:r>
          </a:p>
          <a:p>
            <a:pPr>
              <a:spcAft>
                <a:spcPts val="600"/>
              </a:spcAft>
              <a:defRPr sz="1200">
                <a:solidFill>
                  <a:srgbClr val="CBD5E0"/>
                </a:solidFill>
                <a:latin typeface="Segoe UI" panose="020B0502040204020203"/>
              </a:defRPr>
            </a:pPr>
            <a:r>
              <a:t>query(node, s, e, l, r)</a:t>
            </a:r>
          </a:p>
          <a:p>
            <a:pPr>
              <a:spcAft>
                <a:spcPts val="600"/>
              </a:spcAft>
              <a:defRPr sz="1200">
                <a:solidFill>
                  <a:srgbClr val="CBD5E0"/>
                </a:solidFill>
                <a:latin typeface="Segoe UI" panose="020B0502040204020203"/>
              </a:defRPr>
            </a:pPr>
            <a:r>
              <a:t>Use: Sum of doc IDs in a range</a:t>
            </a:r>
          </a:p>
          <a:p>
            <a:pPr>
              <a:spcAft>
                <a:spcPts val="600"/>
              </a:spcAft>
              <a:defRPr sz="1200">
                <a:solidFill>
                  <a:srgbClr val="CBD5E0"/>
                </a:solidFill>
                <a:latin typeface="Segoe UI" panose="020B0502040204020203"/>
              </a:defRPr>
            </a:pPr>
            <a:r>
              <a:t>e.g. "Total IDs from index 2–5"</a:t>
            </a:r>
          </a:p>
        </p:txBody>
      </p:sp>
      <p:sp>
        <p:nvSpPr>
          <p:cNvPr id="12" name="Rounded Rectangle 11"/>
          <p:cNvSpPr/>
          <p:nvPr/>
        </p:nvSpPr>
        <p:spPr>
          <a:xfrm>
            <a:off x="548640" y="3931920"/>
            <a:ext cx="5303520" cy="2194560"/>
          </a:xfrm>
          <a:prstGeom prst="roundRect">
            <a:avLst/>
          </a:prstGeom>
          <a:solidFill>
            <a:srgbClr val="162A45"/>
          </a:solidFill>
          <a:ln w="19050">
            <a:solidFill>
              <a:srgbClr val="68D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23360"/>
            <a:ext cx="4572000" cy="365760"/>
          </a:xfrm>
          <a:prstGeom prst="rect">
            <a:avLst/>
          </a:prstGeom>
          <a:noFill/>
        </p:spPr>
        <p:txBody>
          <a:bodyPr wrap="square">
            <a:spAutoFit/>
          </a:bodyPr>
          <a:lstStyle/>
          <a:p>
            <a:pPr algn="l">
              <a:defRPr sz="1800" b="1">
                <a:solidFill>
                  <a:srgbClr val="68D391"/>
                </a:solidFill>
                <a:latin typeface="Segoe UI" panose="020B0502040204020203"/>
              </a:defRPr>
            </a:pPr>
            <a:r>
              <a:t>B-Tree</a:t>
            </a:r>
          </a:p>
        </p:txBody>
      </p:sp>
      <p:sp>
        <p:nvSpPr>
          <p:cNvPr id="14" name="TextBox 13"/>
          <p:cNvSpPr txBox="1"/>
          <p:nvPr/>
        </p:nvSpPr>
        <p:spPr>
          <a:xfrm>
            <a:off x="822960" y="443484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Multi-level key storage</a:t>
            </a:r>
          </a:p>
          <a:p>
            <a:pPr>
              <a:spcAft>
                <a:spcPts val="600"/>
              </a:spcAft>
              <a:defRPr sz="1200">
                <a:solidFill>
                  <a:srgbClr val="CBD5E0"/>
                </a:solidFill>
                <a:latin typeface="Segoe UI" panose="020B0502040204020203"/>
              </a:defRPr>
            </a:pPr>
            <a:r>
              <a:t>insert(key) — recursive</a:t>
            </a:r>
          </a:p>
          <a:p>
            <a:pPr>
              <a:spcAft>
                <a:spcPts val="600"/>
              </a:spcAft>
              <a:defRPr sz="1200">
                <a:solidFill>
                  <a:srgbClr val="CBD5E0"/>
                </a:solidFill>
                <a:latin typeface="Segoe UI" panose="020B0502040204020203"/>
              </a:defRPr>
            </a:pPr>
            <a:r>
              <a:t>display() — inorder traversal</a:t>
            </a:r>
          </a:p>
          <a:p>
            <a:pPr>
              <a:spcAft>
                <a:spcPts val="600"/>
              </a:spcAft>
              <a:defRPr sz="1200">
                <a:solidFill>
                  <a:srgbClr val="CBD5E0"/>
                </a:solidFill>
                <a:latin typeface="Segoe UI" panose="020B0502040204020203"/>
              </a:defRPr>
            </a:pPr>
            <a:r>
              <a:t>Stores document IDs as keys</a:t>
            </a:r>
          </a:p>
          <a:p>
            <a:pPr>
              <a:spcAft>
                <a:spcPts val="600"/>
              </a:spcAft>
              <a:defRPr sz="1200">
                <a:solidFill>
                  <a:srgbClr val="CBD5E0"/>
                </a:solidFill>
                <a:latin typeface="Segoe UI" panose="020B0502040204020203"/>
              </a:defRPr>
            </a:pPr>
            <a:r>
              <a:t>Use: Demonstrate multi-level indexing</a:t>
            </a:r>
          </a:p>
        </p:txBody>
      </p:sp>
      <p:sp>
        <p:nvSpPr>
          <p:cNvPr id="15" name="Rounded Rectangle 14"/>
          <p:cNvSpPr/>
          <p:nvPr/>
        </p:nvSpPr>
        <p:spPr>
          <a:xfrm>
            <a:off x="6217920" y="3931920"/>
            <a:ext cx="5303520" cy="2194560"/>
          </a:xfrm>
          <a:prstGeom prst="roundRect">
            <a:avLst/>
          </a:prstGeom>
          <a:solidFill>
            <a:srgbClr val="162A45"/>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023360"/>
            <a:ext cx="4572000" cy="365760"/>
          </a:xfrm>
          <a:prstGeom prst="rect">
            <a:avLst/>
          </a:prstGeom>
          <a:noFill/>
        </p:spPr>
        <p:txBody>
          <a:bodyPr wrap="square">
            <a:spAutoFit/>
          </a:bodyPr>
          <a:lstStyle/>
          <a:p>
            <a:pPr algn="l">
              <a:defRPr sz="1800" b="1">
                <a:solidFill>
                  <a:srgbClr val="F6AD55"/>
                </a:solidFill>
                <a:latin typeface="Segoe UI" panose="020B0502040204020203"/>
              </a:defRPr>
            </a:pPr>
            <a:r>
              <a:t>B+ Tree</a:t>
            </a:r>
          </a:p>
        </p:txBody>
      </p:sp>
      <p:sp>
        <p:nvSpPr>
          <p:cNvPr id="17" name="TextBox 16"/>
          <p:cNvSpPr txBox="1"/>
          <p:nvPr/>
        </p:nvSpPr>
        <p:spPr>
          <a:xfrm>
            <a:off x="6492240" y="443484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Range search over doc IDs</a:t>
            </a:r>
          </a:p>
          <a:p>
            <a:pPr>
              <a:spcAft>
                <a:spcPts val="600"/>
              </a:spcAft>
              <a:defRPr sz="1200">
                <a:solidFill>
                  <a:srgbClr val="CBD5E0"/>
                </a:solidFill>
                <a:latin typeface="Segoe UI" panose="020B0502040204020203"/>
              </a:defRPr>
            </a:pPr>
            <a:r>
              <a:t>insert(key)</a:t>
            </a:r>
          </a:p>
          <a:p>
            <a:pPr>
              <a:spcAft>
                <a:spcPts val="600"/>
              </a:spcAft>
              <a:defRPr sz="1200">
                <a:solidFill>
                  <a:srgbClr val="CBD5E0"/>
                </a:solidFill>
                <a:latin typeface="Segoe UI" panose="020B0502040204020203"/>
              </a:defRPr>
            </a:pPr>
            <a:r>
              <a:t>rangeSearch(start, end)</a:t>
            </a:r>
          </a:p>
          <a:p>
            <a:pPr>
              <a:spcAft>
                <a:spcPts val="600"/>
              </a:spcAft>
              <a:defRPr sz="1200">
                <a:solidFill>
                  <a:srgbClr val="CBD5E0"/>
                </a:solidFill>
                <a:latin typeface="Segoe UI" panose="020B0502040204020203"/>
              </a:defRPr>
            </a:pPr>
            <a:r>
              <a:t>Use: Find all doc IDs in [100, 200]</a:t>
            </a:r>
          </a:p>
          <a:p>
            <a:pPr>
              <a:spcAft>
                <a:spcPts val="600"/>
              </a:spcAft>
              <a:defRPr sz="1200">
                <a:solidFill>
                  <a:srgbClr val="CBD5E0"/>
                </a:solidFill>
                <a:latin typeface="Segoe UI" panose="020B0502040204020203"/>
              </a:defRPr>
            </a:pPr>
            <a:r>
              <a:t>Sequential scan of stored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828800" cy="457200"/>
          </a:xfrm>
          <a:prstGeom prst="rect">
            <a:avLst/>
          </a:prstGeom>
          <a:noFill/>
        </p:spPr>
        <p:txBody>
          <a:bodyPr wrap="square">
            <a:spAutoFit/>
          </a:bodyPr>
          <a:lstStyle/>
          <a:p>
            <a:pPr algn="l">
              <a:defRPr sz="1600" b="1">
                <a:solidFill>
                  <a:srgbClr val="38B2AC"/>
                </a:solidFill>
                <a:latin typeface="Segoe UI" panose="020B0502040204020203"/>
              </a:defRPr>
            </a:pPr>
            <a:r>
              <a:t>CO3</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Document Network — Graph, BFS, DFS, MST</a:t>
            </a:r>
          </a:p>
        </p:txBody>
      </p:sp>
      <p:sp>
        <p:nvSpPr>
          <p:cNvPr id="5" name="Rectangle 4"/>
          <p:cNvSpPr/>
          <p:nvPr/>
        </p:nvSpPr>
        <p:spPr>
          <a:xfrm>
            <a:off x="731520" y="118872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303520" cy="484632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457200"/>
          </a:xfrm>
          <a:prstGeom prst="rect">
            <a:avLst/>
          </a:prstGeom>
          <a:noFill/>
        </p:spPr>
        <p:txBody>
          <a:bodyPr wrap="square">
            <a:spAutoFit/>
          </a:bodyPr>
          <a:lstStyle/>
          <a:p>
            <a:pPr algn="l">
              <a:defRPr sz="2000" b="1">
                <a:solidFill>
                  <a:srgbClr val="81E6D9"/>
                </a:solidFill>
                <a:latin typeface="Segoe UI" panose="020B0502040204020203"/>
              </a:defRPr>
            </a:pPr>
            <a:r>
              <a:t>Graph (Adjacency List)</a:t>
            </a:r>
          </a:p>
        </p:txBody>
      </p:sp>
      <p:sp>
        <p:nvSpPr>
          <p:cNvPr id="8" name="TextBox 7"/>
          <p:cNvSpPr txBox="1"/>
          <p:nvPr/>
        </p:nvSpPr>
        <p:spPr>
          <a:xfrm>
            <a:off x="822960" y="2103120"/>
            <a:ext cx="4846320" cy="3931920"/>
          </a:xfrm>
          <a:prstGeom prst="rect">
            <a:avLst/>
          </a:prstGeom>
          <a:noFill/>
        </p:spPr>
        <p:txBody>
          <a:bodyPr wrap="square">
            <a:spAutoFit/>
          </a:bodyPr>
          <a:lstStyle/>
          <a:p>
            <a:pPr>
              <a:spcAft>
                <a:spcPts val="600"/>
              </a:spcAft>
              <a:defRPr sz="1200">
                <a:solidFill>
                  <a:srgbClr val="CBD5E0"/>
                </a:solidFill>
                <a:latin typeface="Segoe UI" panose="020B0502040204020203"/>
              </a:defRPr>
            </a:pPr>
            <a:r>
              <a:t>Undirected graph — each vertex = document</a:t>
            </a:r>
          </a:p>
          <a:p>
            <a:pPr>
              <a:spcAft>
                <a:spcPts val="600"/>
              </a:spcAft>
              <a:defRPr sz="1200">
                <a:solidFill>
                  <a:srgbClr val="CBD5E0"/>
                </a:solidFill>
                <a:latin typeface="Segoe UI" panose="020B0502040204020203"/>
              </a:defRPr>
            </a:pPr>
            <a:r>
              <a:t>addEdge(src, dst) — bidirectional</a:t>
            </a:r>
          </a:p>
          <a:p>
            <a:pPr>
              <a:spcAft>
                <a:spcPts val="600"/>
              </a:spcAft>
              <a:defRPr sz="1200">
                <a:solidFill>
                  <a:srgbClr val="CBD5E0"/>
                </a:solidFill>
                <a:latin typeface="Segoe UI" panose="020B0502040204020203"/>
              </a:defRPr>
            </a:pPr>
            <a:r>
              <a:t>resize(n) — grows/shrinks with doc pool</a:t>
            </a:r>
          </a:p>
          <a:p>
            <a:pPr>
              <a:spcAft>
                <a:spcPts val="600"/>
              </a:spcAft>
              <a:defRPr sz="1200">
                <a:solidFill>
                  <a:srgbClr val="CBD5E0"/>
                </a:solidFill>
                <a:latin typeface="Segoe UI" panose="020B0502040204020203"/>
              </a:defRPr>
            </a:pPr>
            <a:r>
              <a:t>removeVertex(v) — removes + re-indexes</a:t>
            </a:r>
          </a:p>
          <a:p>
            <a:pPr>
              <a:spcAft>
                <a:spcPts val="600"/>
              </a:spcAft>
              <a:defRPr sz="1200">
                <a:solidFill>
                  <a:srgbClr val="CBD5E0"/>
                </a:solidFill>
                <a:latin typeface="Segoe UI" panose="020B0502040204020203"/>
              </a:defRPr>
            </a:pPr>
            <a:r>
              <a:t>display() — prints adjacency list</a:t>
            </a:r>
          </a:p>
          <a:p>
            <a:pPr>
              <a:spcAft>
                <a:spcPts val="600"/>
              </a:spcAft>
              <a:defRPr sz="1200">
                <a:solidFill>
                  <a:srgbClr val="CBD5E0"/>
                </a:solidFill>
                <a:latin typeface="Segoe UI" panose="020B0502040204020203"/>
              </a:defRPr>
            </a:pPr>
            <a:r>
              <a:t>displayDocuments() — with titles</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Menu: View Docs, Add Relationship,</a:t>
            </a:r>
          </a:p>
          <a:p>
            <a:pPr>
              <a:spcAft>
                <a:spcPts val="600"/>
              </a:spcAft>
              <a:defRPr sz="1200">
                <a:solidFill>
                  <a:srgbClr val="CBD5E0"/>
                </a:solidFill>
                <a:latin typeface="Segoe UI" panose="020B0502040204020203"/>
              </a:defRPr>
            </a:pPr>
            <a:r>
              <a:t>  Display Graph, BFS, DFS, MST, Back</a:t>
            </a:r>
          </a:p>
        </p:txBody>
      </p:sp>
      <p:sp>
        <p:nvSpPr>
          <p:cNvPr id="9" name="Rounded Rectangle 8"/>
          <p:cNvSpPr/>
          <p:nvPr/>
        </p:nvSpPr>
        <p:spPr>
          <a:xfrm>
            <a:off x="6217920" y="1463040"/>
            <a:ext cx="5303520" cy="4846320"/>
          </a:xfrm>
          <a:prstGeom prst="roundRect">
            <a:avLst/>
          </a:prstGeom>
          <a:solidFill>
            <a:srgbClr val="162A45"/>
          </a:solidFill>
          <a:ln w="19050">
            <a:solidFill>
              <a:srgbClr val="68D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572000" cy="457200"/>
          </a:xfrm>
          <a:prstGeom prst="rect">
            <a:avLst/>
          </a:prstGeom>
          <a:noFill/>
        </p:spPr>
        <p:txBody>
          <a:bodyPr wrap="square">
            <a:spAutoFit/>
          </a:bodyPr>
          <a:lstStyle/>
          <a:p>
            <a:pPr algn="l">
              <a:defRPr sz="2000" b="1">
                <a:solidFill>
                  <a:srgbClr val="68D391"/>
                </a:solidFill>
                <a:latin typeface="Segoe UI" panose="020B0502040204020203"/>
              </a:defRPr>
            </a:pPr>
            <a:r>
              <a:t>Traversals &amp; MST</a:t>
            </a:r>
          </a:p>
        </p:txBody>
      </p:sp>
      <p:sp>
        <p:nvSpPr>
          <p:cNvPr id="11" name="TextBox 10"/>
          <p:cNvSpPr txBox="1"/>
          <p:nvPr/>
        </p:nvSpPr>
        <p:spPr>
          <a:xfrm>
            <a:off x="6492240" y="2103120"/>
            <a:ext cx="4846320" cy="3931920"/>
          </a:xfrm>
          <a:prstGeom prst="rect">
            <a:avLst/>
          </a:prstGeom>
          <a:noFill/>
        </p:spPr>
        <p:txBody>
          <a:bodyPr wrap="square">
            <a:spAutoFit/>
          </a:bodyPr>
          <a:lstStyle/>
          <a:p>
            <a:pPr>
              <a:spcAft>
                <a:spcPts val="600"/>
              </a:spcAft>
              <a:defRPr sz="1200">
                <a:solidFill>
                  <a:srgbClr val="CBD5E0"/>
                </a:solidFill>
                <a:latin typeface="Segoe UI" panose="020B0502040204020203"/>
              </a:defRPr>
            </a:pPr>
            <a:r>
              <a:t>BFS (Breadth-First Search):</a:t>
            </a:r>
          </a:p>
          <a:p>
            <a:pPr>
              <a:spcAft>
                <a:spcPts val="600"/>
              </a:spcAft>
              <a:defRPr sz="1200">
                <a:solidFill>
                  <a:srgbClr val="CBD5E0"/>
                </a:solidFill>
                <a:latin typeface="Segoe UI" panose="020B0502040204020203"/>
              </a:defRPr>
            </a:pPr>
            <a:r>
              <a:t>  • Queue-based level-order traversal</a:t>
            </a:r>
          </a:p>
          <a:p>
            <a:pPr>
              <a:spcAft>
                <a:spcPts val="600"/>
              </a:spcAft>
              <a:defRPr sz="1200">
                <a:solidFill>
                  <a:srgbClr val="CBD5E0"/>
                </a:solidFill>
                <a:latin typeface="Segoe UI" panose="020B0502040204020203"/>
              </a:defRPr>
            </a:pPr>
            <a:r>
              <a:t>  • Visits all reachable vertices</a:t>
            </a:r>
          </a:p>
          <a:p>
            <a:pPr>
              <a:spcAft>
                <a:spcPts val="600"/>
              </a:spcAft>
              <a:defRPr sz="1200">
                <a:solidFill>
                  <a:srgbClr val="CBD5E0"/>
                </a:solidFill>
                <a:latin typeface="Segoe UI" panose="020B0502040204020203"/>
              </a:defRPr>
            </a:pPr>
            <a:r>
              <a:t>  • Complexity: O(V + E)</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DFS (Depth-First Search):</a:t>
            </a:r>
          </a:p>
          <a:p>
            <a:pPr>
              <a:spcAft>
                <a:spcPts val="600"/>
              </a:spcAft>
              <a:defRPr sz="1200">
                <a:solidFill>
                  <a:srgbClr val="CBD5E0"/>
                </a:solidFill>
                <a:latin typeface="Segoe UI" panose="020B0502040204020203"/>
              </a:defRPr>
            </a:pPr>
            <a:r>
              <a:t>  • Recursive depth exploration</a:t>
            </a:r>
          </a:p>
          <a:p>
            <a:pPr>
              <a:spcAft>
                <a:spcPts val="600"/>
              </a:spcAft>
              <a:defRPr sz="1200">
                <a:solidFill>
                  <a:srgbClr val="CBD5E0"/>
                </a:solidFill>
                <a:latin typeface="Segoe UI" panose="020B0502040204020203"/>
              </a:defRPr>
            </a:pPr>
            <a:r>
              <a:t>  • Uses boolean[] visited array</a:t>
            </a:r>
          </a:p>
          <a:p>
            <a:pPr>
              <a:spcAft>
                <a:spcPts val="600"/>
              </a:spcAft>
              <a:defRPr sz="1200">
                <a:solidFill>
                  <a:srgbClr val="CBD5E0"/>
                </a:solidFill>
                <a:latin typeface="Segoe UI" panose="020B0502040204020203"/>
              </a:defRPr>
            </a:pPr>
            <a:r>
              <a:t>  • Complexity: O(V + E)</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MST (Minimum Spanning Tree):</a:t>
            </a:r>
          </a:p>
          <a:p>
            <a:pPr>
              <a:spcAft>
                <a:spcPts val="600"/>
              </a:spcAft>
              <a:defRPr sz="1200">
                <a:solidFill>
                  <a:srgbClr val="CBD5E0"/>
                </a:solidFill>
                <a:latin typeface="Segoe UI" panose="020B0502040204020203"/>
              </a:defRPr>
            </a:pPr>
            <a:r>
              <a:t>  • Placeholder demonstration</a:t>
            </a:r>
          </a:p>
          <a:p>
            <a:pPr>
              <a:spcAft>
                <a:spcPts val="600"/>
              </a:spcAft>
              <a:defRPr sz="1200">
                <a:solidFill>
                  <a:srgbClr val="CBD5E0"/>
                </a:solidFill>
                <a:latin typeface="Segoe UI" panose="020B0502040204020203"/>
              </a:defRPr>
            </a:pPr>
            <a:r>
              <a:t>  • Infrastructure ready for Prim/Kruskal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828800" cy="457200"/>
          </a:xfrm>
          <a:prstGeom prst="rect">
            <a:avLst/>
          </a:prstGeom>
          <a:noFill/>
        </p:spPr>
        <p:txBody>
          <a:bodyPr wrap="square">
            <a:spAutoFit/>
          </a:bodyPr>
          <a:lstStyle/>
          <a:p>
            <a:pPr algn="l">
              <a:defRPr sz="1600" b="1">
                <a:solidFill>
                  <a:srgbClr val="38B2AC"/>
                </a:solidFill>
                <a:latin typeface="Segoe UI" panose="020B0502040204020203"/>
              </a:defRPr>
            </a:pPr>
            <a:r>
              <a:t>CO4</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Path Optimization — Shortest Path Algorithms</a:t>
            </a:r>
          </a:p>
        </p:txBody>
      </p:sp>
      <p:sp>
        <p:nvSpPr>
          <p:cNvPr id="5" name="Rectangle 4"/>
          <p:cNvSpPr/>
          <p:nvPr/>
        </p:nvSpPr>
        <p:spPr>
          <a:xfrm>
            <a:off x="731520" y="118872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303520" cy="219456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38B2AC"/>
                </a:solidFill>
                <a:latin typeface="Segoe UI" panose="020B0502040204020203"/>
              </a:defRPr>
            </a:pPr>
            <a:r>
              <a:t>Dijkstra</a:t>
            </a:r>
          </a:p>
        </p:txBody>
      </p:sp>
      <p:sp>
        <p:nvSpPr>
          <p:cNvPr id="8" name="TextBox 7"/>
          <p:cNvSpPr txBox="1"/>
          <p:nvPr/>
        </p:nvSpPr>
        <p:spPr>
          <a:xfrm>
            <a:off x="822960" y="196596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Single-source shortest path (greedy)</a:t>
            </a:r>
          </a:p>
          <a:p>
            <a:pPr>
              <a:spcAft>
                <a:spcPts val="600"/>
              </a:spcAft>
              <a:defRPr sz="1200">
                <a:solidFill>
                  <a:srgbClr val="CBD5E0"/>
                </a:solidFill>
                <a:latin typeface="Segoe UI" panose="020B0502040204020203"/>
              </a:defRPr>
            </a:pPr>
            <a:r>
              <a:t>Input: cost[][], source, destination</a:t>
            </a:r>
          </a:p>
          <a:p>
            <a:pPr>
              <a:spcAft>
                <a:spcPts val="600"/>
              </a:spcAft>
              <a:defRPr sz="1200">
                <a:solidFill>
                  <a:srgbClr val="CBD5E0"/>
                </a:solidFill>
                <a:latin typeface="Segoe UI" panose="020B0502040204020203"/>
              </a:defRPr>
            </a:pPr>
            <a:r>
              <a:t>Output: min cost + full path</a:t>
            </a:r>
          </a:p>
          <a:p>
            <a:pPr>
              <a:spcAft>
                <a:spcPts val="600"/>
              </a:spcAft>
              <a:defRPr sz="1200">
                <a:solidFill>
                  <a:srgbClr val="CBD5E0"/>
                </a:solidFill>
                <a:latin typeface="Segoe UI" panose="020B0502040204020203"/>
              </a:defRPr>
            </a:pPr>
            <a:r>
              <a:t>Tracks parent[] for path reconstruction</a:t>
            </a:r>
          </a:p>
          <a:p>
            <a:pPr>
              <a:spcAft>
                <a:spcPts val="600"/>
              </a:spcAft>
              <a:defRPr sz="1200">
                <a:solidFill>
                  <a:srgbClr val="CBD5E0"/>
                </a:solidFill>
                <a:latin typeface="Segoe UI" panose="020B0502040204020203"/>
              </a:defRPr>
            </a:pPr>
            <a:r>
              <a:t>Complexity: O(V²)</a:t>
            </a:r>
          </a:p>
        </p:txBody>
      </p:sp>
      <p:sp>
        <p:nvSpPr>
          <p:cNvPr id="9" name="Rounded Rectangle 8"/>
          <p:cNvSpPr/>
          <p:nvPr/>
        </p:nvSpPr>
        <p:spPr>
          <a:xfrm>
            <a:off x="6217920" y="1463040"/>
            <a:ext cx="5303520" cy="2194560"/>
          </a:xfrm>
          <a:prstGeom prst="roundRect">
            <a:avLst/>
          </a:prstGeom>
          <a:solidFill>
            <a:srgbClr val="162A45"/>
          </a:solidFill>
          <a:ln w="19050">
            <a:solidFill>
              <a:srgbClr val="EDD8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Bellman-Ford</a:t>
            </a:r>
          </a:p>
        </p:txBody>
      </p:sp>
      <p:sp>
        <p:nvSpPr>
          <p:cNvPr id="11" name="TextBox 10"/>
          <p:cNvSpPr txBox="1"/>
          <p:nvPr/>
        </p:nvSpPr>
        <p:spPr>
          <a:xfrm>
            <a:off x="6492240" y="196596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Single-source (handles negatives)</a:t>
            </a:r>
          </a:p>
          <a:p>
            <a:pPr>
              <a:spcAft>
                <a:spcPts val="600"/>
              </a:spcAft>
              <a:defRPr sz="1200">
                <a:solidFill>
                  <a:srgbClr val="CBD5E0"/>
                </a:solidFill>
                <a:latin typeface="Segoe UI" panose="020B0502040204020203"/>
              </a:defRPr>
            </a:pPr>
            <a:r>
              <a:t>Input: cost[][], source</a:t>
            </a:r>
          </a:p>
          <a:p>
            <a:pPr>
              <a:spcAft>
                <a:spcPts val="600"/>
              </a:spcAft>
              <a:defRPr sz="1200">
                <a:solidFill>
                  <a:srgbClr val="CBD5E0"/>
                </a:solidFill>
                <a:latin typeface="Segoe UI" panose="020B0502040204020203"/>
              </a:defRPr>
            </a:pPr>
            <a:r>
              <a:t>Output: distances to ALL vertices</a:t>
            </a:r>
          </a:p>
          <a:p>
            <a:pPr>
              <a:spcAft>
                <a:spcPts val="600"/>
              </a:spcAft>
              <a:defRPr sz="1200">
                <a:solidFill>
                  <a:srgbClr val="CBD5E0"/>
                </a:solidFill>
                <a:latin typeface="Segoe UI" panose="020B0502040204020203"/>
              </a:defRPr>
            </a:pPr>
            <a:r>
              <a:t>V-1 relaxation iterations</a:t>
            </a:r>
          </a:p>
          <a:p>
            <a:pPr>
              <a:spcAft>
                <a:spcPts val="600"/>
              </a:spcAft>
              <a:defRPr sz="1200">
                <a:solidFill>
                  <a:srgbClr val="CBD5E0"/>
                </a:solidFill>
                <a:latin typeface="Segoe UI" panose="020B0502040204020203"/>
              </a:defRPr>
            </a:pPr>
            <a:r>
              <a:t>Complexity: O(V³) with matrix</a:t>
            </a:r>
          </a:p>
        </p:txBody>
      </p:sp>
      <p:sp>
        <p:nvSpPr>
          <p:cNvPr id="12" name="Rounded Rectangle 11"/>
          <p:cNvSpPr/>
          <p:nvPr/>
        </p:nvSpPr>
        <p:spPr>
          <a:xfrm>
            <a:off x="548640" y="3931920"/>
            <a:ext cx="5303520" cy="2194560"/>
          </a:xfrm>
          <a:prstGeom prst="roundRect">
            <a:avLst/>
          </a:prstGeom>
          <a:solidFill>
            <a:srgbClr val="162A45"/>
          </a:solidFill>
          <a:ln w="19050">
            <a:solidFill>
              <a:srgbClr val="ED64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23360"/>
            <a:ext cx="4572000" cy="365760"/>
          </a:xfrm>
          <a:prstGeom prst="rect">
            <a:avLst/>
          </a:prstGeom>
          <a:noFill/>
        </p:spPr>
        <p:txBody>
          <a:bodyPr wrap="square">
            <a:spAutoFit/>
          </a:bodyPr>
          <a:lstStyle/>
          <a:p>
            <a:pPr algn="l">
              <a:defRPr sz="1800" b="1">
                <a:solidFill>
                  <a:srgbClr val="ED64A6"/>
                </a:solidFill>
                <a:latin typeface="Segoe UI" panose="020B0502040204020203"/>
              </a:defRPr>
            </a:pPr>
            <a:r>
              <a:t>Floyd-Warshall</a:t>
            </a:r>
          </a:p>
        </p:txBody>
      </p:sp>
      <p:sp>
        <p:nvSpPr>
          <p:cNvPr id="14" name="TextBox 13"/>
          <p:cNvSpPr txBox="1"/>
          <p:nvPr/>
        </p:nvSpPr>
        <p:spPr>
          <a:xfrm>
            <a:off x="822960" y="443484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All-pairs shortest path (DP)</a:t>
            </a:r>
          </a:p>
          <a:p>
            <a:pPr>
              <a:spcAft>
                <a:spcPts val="600"/>
              </a:spcAft>
              <a:defRPr sz="1200">
                <a:solidFill>
                  <a:srgbClr val="CBD5E0"/>
                </a:solidFill>
                <a:latin typeface="Segoe UI" panose="020B0502040204020203"/>
              </a:defRPr>
            </a:pPr>
            <a:r>
              <a:t>Input: cost[][]</a:t>
            </a:r>
          </a:p>
          <a:p>
            <a:pPr>
              <a:spcAft>
                <a:spcPts val="600"/>
              </a:spcAft>
              <a:defRPr sz="1200">
                <a:solidFill>
                  <a:srgbClr val="CBD5E0"/>
                </a:solidFill>
                <a:latin typeface="Segoe UI" panose="020B0502040204020203"/>
              </a:defRPr>
            </a:pPr>
            <a:r>
              <a:t>Output: full N×N distance matrix</a:t>
            </a:r>
          </a:p>
          <a:p>
            <a:pPr>
              <a:spcAft>
                <a:spcPts val="600"/>
              </a:spcAft>
              <a:defRPr sz="1200">
                <a:solidFill>
                  <a:srgbClr val="CBD5E0"/>
                </a:solidFill>
                <a:latin typeface="Segoe UI" panose="020B0502040204020203"/>
              </a:defRPr>
            </a:pPr>
            <a:r>
              <a:t>Triple nested loop via intermediate k</a:t>
            </a:r>
          </a:p>
          <a:p>
            <a:pPr>
              <a:spcAft>
                <a:spcPts val="600"/>
              </a:spcAft>
              <a:defRPr sz="1200">
                <a:solidFill>
                  <a:srgbClr val="CBD5E0"/>
                </a:solidFill>
                <a:latin typeface="Segoe UI" panose="020B0502040204020203"/>
              </a:defRPr>
            </a:pPr>
            <a:r>
              <a:t>Complexity: O(V³)</a:t>
            </a:r>
          </a:p>
        </p:txBody>
      </p:sp>
      <p:sp>
        <p:nvSpPr>
          <p:cNvPr id="15" name="Rounded Rectangle 14"/>
          <p:cNvSpPr/>
          <p:nvPr/>
        </p:nvSpPr>
        <p:spPr>
          <a:xfrm>
            <a:off x="6217920" y="3931920"/>
            <a:ext cx="5303520" cy="2194560"/>
          </a:xfrm>
          <a:prstGeom prst="roundRect">
            <a:avLst/>
          </a:prstGeom>
          <a:solidFill>
            <a:srgbClr val="162A45"/>
          </a:solidFill>
          <a:ln w="19050">
            <a:solidFill>
              <a:srgbClr val="68D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023360"/>
            <a:ext cx="4572000" cy="365760"/>
          </a:xfrm>
          <a:prstGeom prst="rect">
            <a:avLst/>
          </a:prstGeom>
          <a:noFill/>
        </p:spPr>
        <p:txBody>
          <a:bodyPr wrap="square">
            <a:spAutoFit/>
          </a:bodyPr>
          <a:lstStyle/>
          <a:p>
            <a:pPr algn="l">
              <a:defRPr sz="1800" b="1">
                <a:solidFill>
                  <a:srgbClr val="68D391"/>
                </a:solidFill>
                <a:latin typeface="Segoe UI" panose="020B0502040204020203"/>
              </a:defRPr>
            </a:pPr>
            <a:r>
              <a:t>Topological Sort</a:t>
            </a:r>
          </a:p>
        </p:txBody>
      </p:sp>
      <p:sp>
        <p:nvSpPr>
          <p:cNvPr id="17" name="TextBox 16"/>
          <p:cNvSpPr txBox="1"/>
          <p:nvPr/>
        </p:nvSpPr>
        <p:spPr>
          <a:xfrm>
            <a:off x="6492240" y="443484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DFS-based linear ordering (DAG)</a:t>
            </a:r>
          </a:p>
          <a:p>
            <a:pPr>
              <a:spcAft>
                <a:spcPts val="600"/>
              </a:spcAft>
              <a:defRPr sz="1200">
                <a:solidFill>
                  <a:srgbClr val="CBD5E0"/>
                </a:solidFill>
                <a:latin typeface="Segoe UI" panose="020B0502040204020203"/>
              </a:defRPr>
            </a:pPr>
            <a:r>
              <a:t>Input: cost[][] as directed graph</a:t>
            </a:r>
          </a:p>
          <a:p>
            <a:pPr>
              <a:spcAft>
                <a:spcPts val="600"/>
              </a:spcAft>
              <a:defRPr sz="1200">
                <a:solidFill>
                  <a:srgbClr val="CBD5E0"/>
                </a:solidFill>
                <a:latin typeface="Segoe UI" panose="020B0502040204020203"/>
              </a:defRPr>
            </a:pPr>
            <a:r>
              <a:t>Output: ordered vertex sequence</a:t>
            </a:r>
          </a:p>
          <a:p>
            <a:pPr>
              <a:spcAft>
                <a:spcPts val="600"/>
              </a:spcAft>
              <a:defRPr sz="1200">
                <a:solidFill>
                  <a:srgbClr val="CBD5E0"/>
                </a:solidFill>
                <a:latin typeface="Segoe UI" panose="020B0502040204020203"/>
              </a:defRPr>
            </a:pPr>
            <a:r>
              <a:t>Uses Stack for reverse post-order</a:t>
            </a:r>
          </a:p>
          <a:p>
            <a:pPr>
              <a:spcAft>
                <a:spcPts val="600"/>
              </a:spcAft>
              <a:defRPr sz="1200">
                <a:solidFill>
                  <a:srgbClr val="CBD5E0"/>
                </a:solidFill>
                <a:latin typeface="Segoe UI" panose="020B0502040204020203"/>
              </a:defRPr>
            </a:pPr>
            <a:r>
              <a:t>Complexity: O(V + 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828800" cy="457200"/>
          </a:xfrm>
          <a:prstGeom prst="rect">
            <a:avLst/>
          </a:prstGeom>
          <a:noFill/>
        </p:spPr>
        <p:txBody>
          <a:bodyPr wrap="square">
            <a:spAutoFit/>
          </a:bodyPr>
          <a:lstStyle/>
          <a:p>
            <a:pPr algn="l">
              <a:defRPr sz="1600" b="1">
                <a:solidFill>
                  <a:srgbClr val="38B2AC"/>
                </a:solidFill>
                <a:latin typeface="Segoe UI" panose="020B0502040204020203"/>
              </a:defRPr>
            </a:pPr>
            <a:r>
              <a:t>CO5</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Sorting &amp; Ranking — 4 Sorting Algorithms</a:t>
            </a:r>
          </a:p>
        </p:txBody>
      </p:sp>
      <p:sp>
        <p:nvSpPr>
          <p:cNvPr id="5" name="Rectangle 4"/>
          <p:cNvSpPr/>
          <p:nvPr/>
        </p:nvSpPr>
        <p:spPr>
          <a:xfrm>
            <a:off x="731520" y="118872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463040"/>
          <a:ext cx="10972800" cy="1920240"/>
        </p:xfrm>
        <a:graphic>
          <a:graphicData uri="http://schemas.openxmlformats.org/drawingml/2006/table">
            <a:tbl>
              <a:tblPr firstRow="1" bandRow="1">
                <a:tableStyleId>{5C22544A-7EE6-4342-B048-85BDC9FD1C3A}</a:tableStyleId>
              </a:tblPr>
              <a:tblGrid>
                <a:gridCol w="2286000"/>
                <a:gridCol w="2286000"/>
                <a:gridCol w="1371600"/>
                <a:gridCol w="2286000"/>
                <a:gridCol w="2743200"/>
              </a:tblGrid>
              <a:tr h="384048">
                <a:tc>
                  <a:txBody>
                    <a:bodyPr/>
                    <a:lstStyle/>
                    <a:p>
                      <a:pPr algn="ctr">
                        <a:defRPr sz="1300" b="1">
                          <a:solidFill>
                            <a:srgbClr val="81E6D9"/>
                          </a:solidFill>
                          <a:latin typeface="Segoe UI" panose="020B0502040204020203"/>
                        </a:defRPr>
                      </a:pPr>
                      <a:r>
                        <a:t>Algorithm</a:t>
                      </a:r>
                    </a:p>
                  </a:txBody>
                  <a:tcPr anchor="ctr">
                    <a:solidFill>
                      <a:srgbClr val="1A365D"/>
                    </a:solidFill>
                  </a:tcPr>
                </a:tc>
                <a:tc>
                  <a:txBody>
                    <a:bodyPr/>
                    <a:lstStyle/>
                    <a:p>
                      <a:pPr algn="ctr">
                        <a:defRPr sz="1300" b="1">
                          <a:solidFill>
                            <a:srgbClr val="81E6D9"/>
                          </a:solidFill>
                          <a:latin typeface="Segoe UI" panose="020B0502040204020203"/>
                        </a:defRPr>
                      </a:pPr>
                      <a:r>
                        <a:t>Sorts By</a:t>
                      </a:r>
                    </a:p>
                  </a:txBody>
                  <a:tcPr anchor="ctr">
                    <a:solidFill>
                      <a:srgbClr val="1A365D"/>
                    </a:solidFill>
                  </a:tcPr>
                </a:tc>
                <a:tc>
                  <a:txBody>
                    <a:bodyPr/>
                    <a:lstStyle/>
                    <a:p>
                      <a:pPr algn="ctr">
                        <a:defRPr sz="1300" b="1">
                          <a:solidFill>
                            <a:srgbClr val="81E6D9"/>
                          </a:solidFill>
                          <a:latin typeface="Segoe UI" panose="020B0502040204020203"/>
                        </a:defRPr>
                      </a:pPr>
                      <a:r>
                        <a:t>Stable?</a:t>
                      </a:r>
                    </a:p>
                  </a:txBody>
                  <a:tcPr anchor="ctr">
                    <a:solidFill>
                      <a:srgbClr val="1A365D"/>
                    </a:solidFill>
                  </a:tcPr>
                </a:tc>
                <a:tc>
                  <a:txBody>
                    <a:bodyPr/>
                    <a:lstStyle/>
                    <a:p>
                      <a:pPr algn="ctr">
                        <a:defRPr sz="1300" b="1">
                          <a:solidFill>
                            <a:srgbClr val="81E6D9"/>
                          </a:solidFill>
                          <a:latin typeface="Segoe UI" panose="020B0502040204020203"/>
                        </a:defRPr>
                      </a:pPr>
                      <a:r>
                        <a:t>Avg Time</a:t>
                      </a:r>
                    </a:p>
                  </a:txBody>
                  <a:tcPr anchor="ctr">
                    <a:solidFill>
                      <a:srgbClr val="1A365D"/>
                    </a:solidFill>
                  </a:tcPr>
                </a:tc>
                <a:tc>
                  <a:txBody>
                    <a:bodyPr/>
                    <a:lstStyle/>
                    <a:p>
                      <a:pPr algn="ctr">
                        <a:defRPr sz="1300" b="1">
                          <a:solidFill>
                            <a:srgbClr val="81E6D9"/>
                          </a:solidFill>
                          <a:latin typeface="Segoe UI" panose="020B0502040204020203"/>
                        </a:defRPr>
                      </a:pPr>
                      <a:r>
                        <a:t>Technique</a:t>
                      </a:r>
                    </a:p>
                  </a:txBody>
                  <a:tcPr anchor="ctr">
                    <a:solidFill>
                      <a:srgbClr val="1A365D"/>
                    </a:solidFill>
                  </a:tcPr>
                </a:tc>
              </a:tr>
              <a:tr h="384048">
                <a:tc>
                  <a:txBody>
                    <a:bodyPr/>
                    <a:lstStyle/>
                    <a:p>
                      <a:pPr algn="ctr">
                        <a:defRPr sz="1300">
                          <a:solidFill>
                            <a:srgbClr val="CBD5E0"/>
                          </a:solidFill>
                          <a:latin typeface="Segoe UI" panose="020B0502040204020203"/>
                        </a:defRPr>
                      </a:pPr>
                      <a:r>
                        <a:t>Merge Sort</a:t>
                      </a:r>
                    </a:p>
                  </a:txBody>
                  <a:tcPr anchor="ctr">
                    <a:solidFill>
                      <a:srgbClr val="1E3A5F"/>
                    </a:solidFill>
                  </a:tcPr>
                </a:tc>
                <a:tc>
                  <a:txBody>
                    <a:bodyPr/>
                    <a:lstStyle/>
                    <a:p>
                      <a:pPr algn="ctr">
                        <a:defRPr sz="1300">
                          <a:solidFill>
                            <a:srgbClr val="CBD5E0"/>
                          </a:solidFill>
                          <a:latin typeface="Segoe UI" panose="020B0502040204020203"/>
                        </a:defRPr>
                      </a:pPr>
                      <a:r>
                        <a:t>Document ID</a:t>
                      </a:r>
                    </a:p>
                  </a:txBody>
                  <a:tcPr anchor="ctr">
                    <a:solidFill>
                      <a:srgbClr val="1E3A5F"/>
                    </a:solidFill>
                  </a:tcPr>
                </a:tc>
                <a:tc>
                  <a:txBody>
                    <a:bodyPr/>
                    <a:lstStyle/>
                    <a:p>
                      <a:pPr algn="ctr">
                        <a:defRPr sz="1300">
                          <a:solidFill>
                            <a:srgbClr val="CBD5E0"/>
                          </a:solidFill>
                          <a:latin typeface="Segoe UI" panose="020B0502040204020203"/>
                        </a:defRPr>
                      </a:pPr>
                      <a:r>
                        <a:t>✅ Yes</a:t>
                      </a:r>
                    </a:p>
                  </a:txBody>
                  <a:tcPr anchor="ctr">
                    <a:solidFill>
                      <a:srgbClr val="1E3A5F"/>
                    </a:solidFill>
                  </a:tcPr>
                </a:tc>
                <a:tc>
                  <a:txBody>
                    <a:bodyPr/>
                    <a:lstStyle/>
                    <a:p>
                      <a:pPr algn="ctr">
                        <a:defRPr sz="1300">
                          <a:solidFill>
                            <a:srgbClr val="CBD5E0"/>
                          </a:solidFill>
                          <a:latin typeface="Segoe UI" panose="020B0502040204020203"/>
                        </a:defRPr>
                      </a:pPr>
                      <a:r>
                        <a:t>O(n log n)</a:t>
                      </a:r>
                    </a:p>
                  </a:txBody>
                  <a:tcPr anchor="ctr">
                    <a:solidFill>
                      <a:srgbClr val="1E3A5F"/>
                    </a:solidFill>
                  </a:tcPr>
                </a:tc>
                <a:tc>
                  <a:txBody>
                    <a:bodyPr/>
                    <a:lstStyle/>
                    <a:p>
                      <a:pPr algn="ctr">
                        <a:defRPr sz="1300">
                          <a:solidFill>
                            <a:srgbClr val="CBD5E0"/>
                          </a:solidFill>
                          <a:latin typeface="Segoe UI" panose="020B0502040204020203"/>
                        </a:defRPr>
                      </a:pPr>
                      <a:r>
                        <a:t>Divide &amp; Conquer</a:t>
                      </a:r>
                    </a:p>
                  </a:txBody>
                  <a:tcPr anchor="ctr">
                    <a:solidFill>
                      <a:srgbClr val="1E3A5F"/>
                    </a:solidFill>
                  </a:tcPr>
                </a:tc>
              </a:tr>
              <a:tr h="384048">
                <a:tc>
                  <a:txBody>
                    <a:bodyPr/>
                    <a:lstStyle/>
                    <a:p>
                      <a:pPr algn="ctr">
                        <a:defRPr sz="1300">
                          <a:solidFill>
                            <a:srgbClr val="CBD5E0"/>
                          </a:solidFill>
                          <a:latin typeface="Segoe UI" panose="020B0502040204020203"/>
                        </a:defRPr>
                      </a:pPr>
                      <a:r>
                        <a:t>Quick Sort</a:t>
                      </a:r>
                    </a:p>
                  </a:txBody>
                  <a:tcPr anchor="ctr">
                    <a:solidFill>
                      <a:srgbClr val="162A45"/>
                    </a:solidFill>
                  </a:tcPr>
                </a:tc>
                <a:tc>
                  <a:txBody>
                    <a:bodyPr/>
                    <a:lstStyle/>
                    <a:p>
                      <a:pPr algn="ctr">
                        <a:defRPr sz="1300">
                          <a:solidFill>
                            <a:srgbClr val="CBD5E0"/>
                          </a:solidFill>
                          <a:latin typeface="Segoe UI" panose="020B0502040204020203"/>
                        </a:defRPr>
                      </a:pPr>
                      <a:r>
                        <a:t>Title (A-Z)</a:t>
                      </a:r>
                    </a:p>
                  </a:txBody>
                  <a:tcPr anchor="ctr">
                    <a:solidFill>
                      <a:srgbClr val="162A45"/>
                    </a:solidFill>
                  </a:tcPr>
                </a:tc>
                <a:tc>
                  <a:txBody>
                    <a:bodyPr/>
                    <a:lstStyle/>
                    <a:p>
                      <a:pPr algn="ctr">
                        <a:defRPr sz="1300">
                          <a:solidFill>
                            <a:srgbClr val="CBD5E0"/>
                          </a:solidFill>
                          <a:latin typeface="Segoe UI" panose="020B0502040204020203"/>
                        </a:defRPr>
                      </a:pPr>
                      <a:r>
                        <a:t>❌ No</a:t>
                      </a:r>
                    </a:p>
                  </a:txBody>
                  <a:tcPr anchor="ctr">
                    <a:solidFill>
                      <a:srgbClr val="162A45"/>
                    </a:solidFill>
                  </a:tcPr>
                </a:tc>
                <a:tc>
                  <a:txBody>
                    <a:bodyPr/>
                    <a:lstStyle/>
                    <a:p>
                      <a:pPr algn="ctr">
                        <a:defRPr sz="1300">
                          <a:solidFill>
                            <a:srgbClr val="CBD5E0"/>
                          </a:solidFill>
                          <a:latin typeface="Segoe UI" panose="020B0502040204020203"/>
                        </a:defRPr>
                      </a:pPr>
                      <a:r>
                        <a:t>O(n log n)</a:t>
                      </a:r>
                    </a:p>
                  </a:txBody>
                  <a:tcPr anchor="ctr">
                    <a:solidFill>
                      <a:srgbClr val="162A45"/>
                    </a:solidFill>
                  </a:tcPr>
                </a:tc>
                <a:tc>
                  <a:txBody>
                    <a:bodyPr/>
                    <a:lstStyle/>
                    <a:p>
                      <a:pPr algn="ctr">
                        <a:defRPr sz="1300">
                          <a:solidFill>
                            <a:srgbClr val="CBD5E0"/>
                          </a:solidFill>
                          <a:latin typeface="Segoe UI" panose="020B0502040204020203"/>
                        </a:defRPr>
                      </a:pPr>
                      <a:r>
                        <a:t>Partition-based</a:t>
                      </a:r>
                    </a:p>
                  </a:txBody>
                  <a:tcPr anchor="ctr">
                    <a:solidFill>
                      <a:srgbClr val="162A45"/>
                    </a:solidFill>
                  </a:tcPr>
                </a:tc>
              </a:tr>
              <a:tr h="384048">
                <a:tc>
                  <a:txBody>
                    <a:bodyPr/>
                    <a:lstStyle/>
                    <a:p>
                      <a:pPr algn="ctr">
                        <a:defRPr sz="1300">
                          <a:solidFill>
                            <a:srgbClr val="CBD5E0"/>
                          </a:solidFill>
                          <a:latin typeface="Segoe UI" panose="020B0502040204020203"/>
                        </a:defRPr>
                      </a:pPr>
                      <a:r>
                        <a:t>Heap Sort</a:t>
                      </a:r>
                    </a:p>
                  </a:txBody>
                  <a:tcPr anchor="ctr">
                    <a:solidFill>
                      <a:srgbClr val="1E3A5F"/>
                    </a:solidFill>
                  </a:tcPr>
                </a:tc>
                <a:tc>
                  <a:txBody>
                    <a:bodyPr/>
                    <a:lstStyle/>
                    <a:p>
                      <a:pPr algn="ctr">
                        <a:defRPr sz="1300">
                          <a:solidFill>
                            <a:srgbClr val="CBD5E0"/>
                          </a:solidFill>
                          <a:latin typeface="Segoe UI" panose="020B0502040204020203"/>
                        </a:defRPr>
                      </a:pPr>
                      <a:r>
                        <a:t>Author (A-Z)</a:t>
                      </a:r>
                    </a:p>
                  </a:txBody>
                  <a:tcPr anchor="ctr">
                    <a:solidFill>
                      <a:srgbClr val="1E3A5F"/>
                    </a:solidFill>
                  </a:tcPr>
                </a:tc>
                <a:tc>
                  <a:txBody>
                    <a:bodyPr/>
                    <a:lstStyle/>
                    <a:p>
                      <a:pPr algn="ctr">
                        <a:defRPr sz="1300">
                          <a:solidFill>
                            <a:srgbClr val="CBD5E0"/>
                          </a:solidFill>
                          <a:latin typeface="Segoe UI" panose="020B0502040204020203"/>
                        </a:defRPr>
                      </a:pPr>
                      <a:r>
                        <a:t>❌ No</a:t>
                      </a:r>
                    </a:p>
                  </a:txBody>
                  <a:tcPr anchor="ctr">
                    <a:solidFill>
                      <a:srgbClr val="1E3A5F"/>
                    </a:solidFill>
                  </a:tcPr>
                </a:tc>
                <a:tc>
                  <a:txBody>
                    <a:bodyPr/>
                    <a:lstStyle/>
                    <a:p>
                      <a:pPr algn="ctr">
                        <a:defRPr sz="1300">
                          <a:solidFill>
                            <a:srgbClr val="CBD5E0"/>
                          </a:solidFill>
                          <a:latin typeface="Segoe UI" panose="020B0502040204020203"/>
                        </a:defRPr>
                      </a:pPr>
                      <a:r>
                        <a:t>O(n log n)</a:t>
                      </a:r>
                    </a:p>
                  </a:txBody>
                  <a:tcPr anchor="ctr">
                    <a:solidFill>
                      <a:srgbClr val="1E3A5F"/>
                    </a:solidFill>
                  </a:tcPr>
                </a:tc>
                <a:tc>
                  <a:txBody>
                    <a:bodyPr/>
                    <a:lstStyle/>
                    <a:p>
                      <a:pPr algn="ctr">
                        <a:defRPr sz="1300">
                          <a:solidFill>
                            <a:srgbClr val="CBD5E0"/>
                          </a:solidFill>
                          <a:latin typeface="Segoe UI" panose="020B0502040204020203"/>
                        </a:defRPr>
                      </a:pPr>
                      <a:r>
                        <a:t>Max-Heap</a:t>
                      </a:r>
                    </a:p>
                  </a:txBody>
                  <a:tcPr anchor="ctr">
                    <a:solidFill>
                      <a:srgbClr val="1E3A5F"/>
                    </a:solidFill>
                  </a:tcPr>
                </a:tc>
              </a:tr>
              <a:tr h="384048">
                <a:tc>
                  <a:txBody>
                    <a:bodyPr/>
                    <a:lstStyle/>
                    <a:p>
                      <a:pPr algn="ctr">
                        <a:defRPr sz="1300">
                          <a:solidFill>
                            <a:srgbClr val="CBD5E0"/>
                          </a:solidFill>
                          <a:latin typeface="Segoe UI" panose="020B0502040204020203"/>
                        </a:defRPr>
                      </a:pPr>
                      <a:r>
                        <a:t>Radix Sort</a:t>
                      </a:r>
                    </a:p>
                  </a:txBody>
                  <a:tcPr anchor="ctr">
                    <a:solidFill>
                      <a:srgbClr val="162A45"/>
                    </a:solidFill>
                  </a:tcPr>
                </a:tc>
                <a:tc>
                  <a:txBody>
                    <a:bodyPr/>
                    <a:lstStyle/>
                    <a:p>
                      <a:pPr algn="ctr">
                        <a:defRPr sz="1300">
                          <a:solidFill>
                            <a:srgbClr val="CBD5E0"/>
                          </a:solidFill>
                          <a:latin typeface="Segoe UI" panose="020B0502040204020203"/>
                        </a:defRPr>
                      </a:pPr>
                      <a:r>
                        <a:t>Document ID</a:t>
                      </a:r>
                    </a:p>
                  </a:txBody>
                  <a:tcPr anchor="ctr">
                    <a:solidFill>
                      <a:srgbClr val="162A45"/>
                    </a:solidFill>
                  </a:tcPr>
                </a:tc>
                <a:tc>
                  <a:txBody>
                    <a:bodyPr/>
                    <a:lstStyle/>
                    <a:p>
                      <a:pPr algn="ctr">
                        <a:defRPr sz="1300">
                          <a:solidFill>
                            <a:srgbClr val="CBD5E0"/>
                          </a:solidFill>
                          <a:latin typeface="Segoe UI" panose="020B0502040204020203"/>
                        </a:defRPr>
                      </a:pPr>
                      <a:r>
                        <a:t>✅ Yes</a:t>
                      </a:r>
                    </a:p>
                  </a:txBody>
                  <a:tcPr anchor="ctr">
                    <a:solidFill>
                      <a:srgbClr val="162A45"/>
                    </a:solidFill>
                  </a:tcPr>
                </a:tc>
                <a:tc>
                  <a:txBody>
                    <a:bodyPr/>
                    <a:lstStyle/>
                    <a:p>
                      <a:pPr algn="ctr">
                        <a:defRPr sz="1300">
                          <a:solidFill>
                            <a:srgbClr val="CBD5E0"/>
                          </a:solidFill>
                          <a:latin typeface="Segoe UI" panose="020B0502040204020203"/>
                        </a:defRPr>
                      </a:pPr>
                      <a:r>
                        <a:t>O(d × n)</a:t>
                      </a:r>
                    </a:p>
                  </a:txBody>
                  <a:tcPr anchor="ctr">
                    <a:solidFill>
                      <a:srgbClr val="162A45"/>
                    </a:solidFill>
                  </a:tcPr>
                </a:tc>
                <a:tc>
                  <a:txBody>
                    <a:bodyPr/>
                    <a:lstStyle/>
                    <a:p>
                      <a:pPr algn="ctr">
                        <a:defRPr sz="1300">
                          <a:solidFill>
                            <a:srgbClr val="CBD5E0"/>
                          </a:solidFill>
                          <a:latin typeface="Segoe UI" panose="020B0502040204020203"/>
                        </a:defRPr>
                      </a:pPr>
                      <a:r>
                        <a:t>Non-comparative (LSD)</a:t>
                      </a:r>
                    </a:p>
                  </a:txBody>
                  <a:tcPr anchor="ctr">
                    <a:solidFill>
                      <a:srgbClr val="162A45"/>
                    </a:solidFill>
                  </a:tcPr>
                </a:tc>
              </a:tr>
            </a:tbl>
          </a:graphicData>
        </a:graphic>
      </p:graphicFrame>
      <p:sp>
        <p:nvSpPr>
          <p:cNvPr id="7" name="Rounded Rectangle 6"/>
          <p:cNvSpPr/>
          <p:nvPr/>
        </p:nvSpPr>
        <p:spPr>
          <a:xfrm>
            <a:off x="548640" y="3657600"/>
            <a:ext cx="11155680" cy="283464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749039"/>
            <a:ext cx="10515600" cy="2560320"/>
          </a:xfrm>
          <a:prstGeom prst="rect">
            <a:avLst/>
          </a:prstGeom>
          <a:noFill/>
        </p:spPr>
        <p:txBody>
          <a:bodyPr wrap="square">
            <a:spAutoFit/>
          </a:bodyPr>
          <a:lstStyle/>
          <a:p>
            <a:pPr>
              <a:spcAft>
                <a:spcPts val="600"/>
              </a:spcAft>
              <a:defRPr sz="1300">
                <a:solidFill>
                  <a:srgbClr val="CBD5E0"/>
                </a:solidFill>
                <a:latin typeface="Segoe UI" panose="020B0502040204020203"/>
              </a:defRPr>
            </a:pPr>
            <a:r>
              <a:t>All algorithms operate on a COPY of the document list — original data is never modified.</a:t>
            </a:r>
          </a:p>
          <a:p>
            <a:pPr>
              <a:spcAft>
                <a:spcPts val="600"/>
              </a:spcAft>
              <a:defRPr sz="1300">
                <a:solidFill>
                  <a:srgbClr val="CBD5E0"/>
                </a:solidFill>
                <a:latin typeface="Segoe UI" panose="020B0502040204020203"/>
              </a:defRPr>
            </a:pPr>
            <a:r>
              <a:t>Merge Sort — Classic divide-and-conquer: split, recurse, merge by documentId comparison.</a:t>
            </a:r>
          </a:p>
          <a:p>
            <a:pPr>
              <a:spcAft>
                <a:spcPts val="600"/>
              </a:spcAft>
              <a:defRPr sz="1300">
                <a:solidFill>
                  <a:srgbClr val="CBD5E0"/>
                </a:solidFill>
                <a:latin typeface="Segoe UI" panose="020B0502040204020203"/>
              </a:defRPr>
            </a:pPr>
            <a:r>
              <a:t>Quick Sort — Lomuto partition using title.toLowerCase().compareTo() as comparator.</a:t>
            </a:r>
          </a:p>
          <a:p>
            <a:pPr>
              <a:spcAft>
                <a:spcPts val="600"/>
              </a:spcAft>
              <a:defRPr sz="1300">
                <a:solidFill>
                  <a:srgbClr val="CBD5E0"/>
                </a:solidFill>
                <a:latin typeface="Segoe UI" panose="020B0502040204020203"/>
              </a:defRPr>
            </a:pPr>
            <a:r>
              <a:t>Heap Sort — Builds max-heap using author.compareToIgnoreCase(), then extracts max iteratively.</a:t>
            </a:r>
          </a:p>
          <a:p>
            <a:pPr>
              <a:spcAft>
                <a:spcPts val="600"/>
              </a:spcAft>
              <a:defRPr sz="1300">
                <a:solidFill>
                  <a:srgbClr val="CBD5E0"/>
                </a:solidFill>
                <a:latin typeface="Segoe UI" panose="020B0502040204020203"/>
              </a:defRPr>
            </a:pPr>
            <a:r>
              <a:t>Radix Sort — LSD (Least Significant Digit) approach with counting sort per digit position.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828800" cy="457200"/>
          </a:xfrm>
          <a:prstGeom prst="rect">
            <a:avLst/>
          </a:prstGeom>
          <a:noFill/>
        </p:spPr>
        <p:txBody>
          <a:bodyPr wrap="square">
            <a:spAutoFit/>
          </a:bodyPr>
          <a:lstStyle/>
          <a:p>
            <a:pPr algn="l">
              <a:defRPr sz="1600" b="1">
                <a:solidFill>
                  <a:srgbClr val="38B2AC"/>
                </a:solidFill>
                <a:latin typeface="Segoe UI" panose="020B0502040204020203"/>
              </a:defRPr>
            </a:pPr>
            <a:r>
              <a:t>CO6</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Storage Optimization — Greedy &amp; DP</a:t>
            </a:r>
          </a:p>
        </p:txBody>
      </p:sp>
      <p:sp>
        <p:nvSpPr>
          <p:cNvPr id="5" name="Rectangle 4"/>
          <p:cNvSpPr/>
          <p:nvPr/>
        </p:nvSpPr>
        <p:spPr>
          <a:xfrm>
            <a:off x="731520" y="118872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303520" cy="219456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600" b="1">
                <a:solidFill>
                  <a:srgbClr val="38B2AC"/>
                </a:solidFill>
                <a:latin typeface="Segoe UI" panose="020B0502040204020203"/>
              </a:defRPr>
            </a:pPr>
            <a:r>
              <a:t>Activity Selection (Greedy)</a:t>
            </a:r>
          </a:p>
        </p:txBody>
      </p:sp>
      <p:sp>
        <p:nvSpPr>
          <p:cNvPr id="8" name="TextBox 7"/>
          <p:cNvSpPr txBox="1"/>
          <p:nvPr/>
        </p:nvSpPr>
        <p:spPr>
          <a:xfrm>
            <a:off x="822960" y="196596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Input: documents + start/finish times</a:t>
            </a:r>
          </a:p>
          <a:p>
            <a:pPr>
              <a:spcAft>
                <a:spcPts val="600"/>
              </a:spcAft>
              <a:defRPr sz="1200">
                <a:solidFill>
                  <a:srgbClr val="CBD5E0"/>
                </a:solidFill>
                <a:latin typeface="Segoe UI" panose="020B0502040204020203"/>
              </a:defRPr>
            </a:pPr>
            <a:r>
              <a:t>Selects non-overlapping activities</a:t>
            </a:r>
          </a:p>
          <a:p>
            <a:pPr>
              <a:spcAft>
                <a:spcPts val="600"/>
              </a:spcAft>
              <a:defRPr sz="1200">
                <a:solidFill>
                  <a:srgbClr val="CBD5E0"/>
                </a:solidFill>
                <a:latin typeface="Segoe UI" panose="020B0502040204020203"/>
              </a:defRPr>
            </a:pPr>
            <a:r>
              <a:t>Sorted by finish time (greedy choice)</a:t>
            </a:r>
          </a:p>
          <a:p>
            <a:pPr>
              <a:spcAft>
                <a:spcPts val="600"/>
              </a:spcAft>
              <a:defRPr sz="1200">
                <a:solidFill>
                  <a:srgbClr val="CBD5E0"/>
                </a:solidFill>
                <a:latin typeface="Segoe UI" panose="020B0502040204020203"/>
              </a:defRPr>
            </a:pPr>
            <a:r>
              <a:t>Use: Schedule doc review sessions</a:t>
            </a:r>
          </a:p>
        </p:txBody>
      </p:sp>
      <p:sp>
        <p:nvSpPr>
          <p:cNvPr id="9" name="Rounded Rectangle 8"/>
          <p:cNvSpPr/>
          <p:nvPr/>
        </p:nvSpPr>
        <p:spPr>
          <a:xfrm>
            <a:off x="6217920" y="1463040"/>
            <a:ext cx="5303520" cy="2194560"/>
          </a:xfrm>
          <a:prstGeom prst="roundRect">
            <a:avLst/>
          </a:prstGeom>
          <a:solidFill>
            <a:srgbClr val="162A45"/>
          </a:solidFill>
          <a:ln w="19050">
            <a:solidFill>
              <a:srgbClr val="EDD8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572000" cy="365760"/>
          </a:xfrm>
          <a:prstGeom prst="rect">
            <a:avLst/>
          </a:prstGeom>
          <a:noFill/>
        </p:spPr>
        <p:txBody>
          <a:bodyPr wrap="square">
            <a:spAutoFit/>
          </a:bodyPr>
          <a:lstStyle/>
          <a:p>
            <a:pPr algn="l">
              <a:defRPr sz="1600" b="1">
                <a:solidFill>
                  <a:srgbClr val="EDD88B"/>
                </a:solidFill>
                <a:latin typeface="Segoe UI" panose="020B0502040204020203"/>
              </a:defRPr>
            </a:pPr>
            <a:r>
              <a:t>Fractional Knapsack (Greedy)</a:t>
            </a:r>
          </a:p>
        </p:txBody>
      </p:sp>
      <p:sp>
        <p:nvSpPr>
          <p:cNvPr id="11" name="TextBox 10"/>
          <p:cNvSpPr txBox="1"/>
          <p:nvPr/>
        </p:nvSpPr>
        <p:spPr>
          <a:xfrm>
            <a:off x="6492240" y="196596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Input: docs + value/weight + capacity</a:t>
            </a:r>
          </a:p>
          <a:p>
            <a:pPr>
              <a:spcAft>
                <a:spcPts val="600"/>
              </a:spcAft>
              <a:defRPr sz="1200">
                <a:solidFill>
                  <a:srgbClr val="CBD5E0"/>
                </a:solidFill>
                <a:latin typeface="Segoe UI" panose="020B0502040204020203"/>
              </a:defRPr>
            </a:pPr>
            <a:r>
              <a:t>Picks by value-to-weight ratio</a:t>
            </a:r>
          </a:p>
          <a:p>
            <a:pPr>
              <a:spcAft>
                <a:spcPts val="600"/>
              </a:spcAft>
              <a:defRPr sz="1200">
                <a:solidFill>
                  <a:srgbClr val="CBD5E0"/>
                </a:solidFill>
                <a:latin typeface="Segoe UI" panose="020B0502040204020203"/>
              </a:defRPr>
            </a:pPr>
            <a:r>
              <a:t>Can take fractional portions</a:t>
            </a:r>
          </a:p>
          <a:p>
            <a:pPr>
              <a:spcAft>
                <a:spcPts val="600"/>
              </a:spcAft>
              <a:defRPr sz="1200">
                <a:solidFill>
                  <a:srgbClr val="CBD5E0"/>
                </a:solidFill>
                <a:latin typeface="Segoe UI" panose="020B0502040204020203"/>
              </a:defRPr>
            </a:pPr>
            <a:r>
              <a:t>Use: Partial storage allocation</a:t>
            </a:r>
          </a:p>
        </p:txBody>
      </p:sp>
      <p:sp>
        <p:nvSpPr>
          <p:cNvPr id="12" name="Rounded Rectangle 11"/>
          <p:cNvSpPr/>
          <p:nvPr/>
        </p:nvSpPr>
        <p:spPr>
          <a:xfrm>
            <a:off x="548640" y="3931920"/>
            <a:ext cx="5303520" cy="2194560"/>
          </a:xfrm>
          <a:prstGeom prst="roundRect">
            <a:avLst/>
          </a:prstGeom>
          <a:solidFill>
            <a:srgbClr val="162A45"/>
          </a:solidFill>
          <a:ln w="19050">
            <a:solidFill>
              <a:srgbClr val="ED64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23360"/>
            <a:ext cx="4572000" cy="365760"/>
          </a:xfrm>
          <a:prstGeom prst="rect">
            <a:avLst/>
          </a:prstGeom>
          <a:noFill/>
        </p:spPr>
        <p:txBody>
          <a:bodyPr wrap="square">
            <a:spAutoFit/>
          </a:bodyPr>
          <a:lstStyle/>
          <a:p>
            <a:pPr algn="l">
              <a:defRPr sz="1600" b="1">
                <a:solidFill>
                  <a:srgbClr val="ED64A6"/>
                </a:solidFill>
                <a:latin typeface="Segoe UI" panose="020B0502040204020203"/>
              </a:defRPr>
            </a:pPr>
            <a:r>
              <a:t>0/1 Knapsack (DP)</a:t>
            </a:r>
          </a:p>
        </p:txBody>
      </p:sp>
      <p:sp>
        <p:nvSpPr>
          <p:cNvPr id="14" name="TextBox 13"/>
          <p:cNvSpPr txBox="1"/>
          <p:nvPr/>
        </p:nvSpPr>
        <p:spPr>
          <a:xfrm>
            <a:off x="822960" y="443484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Input: docs + value/weight + capacity</a:t>
            </a:r>
          </a:p>
          <a:p>
            <a:pPr>
              <a:spcAft>
                <a:spcPts val="600"/>
              </a:spcAft>
              <a:defRPr sz="1200">
                <a:solidFill>
                  <a:srgbClr val="CBD5E0"/>
                </a:solidFill>
                <a:latin typeface="Segoe UI" panose="020B0502040204020203"/>
              </a:defRPr>
            </a:pPr>
            <a:r>
              <a:t>DP table: dp[i][w] = max value</a:t>
            </a:r>
          </a:p>
          <a:p>
            <a:pPr>
              <a:spcAft>
                <a:spcPts val="600"/>
              </a:spcAft>
              <a:defRPr sz="1200">
                <a:solidFill>
                  <a:srgbClr val="CBD5E0"/>
                </a:solidFill>
                <a:latin typeface="Segoe UI" panose="020B0502040204020203"/>
              </a:defRPr>
            </a:pPr>
            <a:r>
              <a:t>Backtrack to find selected docs</a:t>
            </a:r>
          </a:p>
          <a:p>
            <a:pPr>
              <a:spcAft>
                <a:spcPts val="600"/>
              </a:spcAft>
              <a:defRPr sz="1200">
                <a:solidFill>
                  <a:srgbClr val="CBD5E0"/>
                </a:solidFill>
                <a:latin typeface="Segoe UI" panose="020B0502040204020203"/>
              </a:defRPr>
            </a:pPr>
            <a:r>
              <a:t>Use: Optimal subset selection</a:t>
            </a:r>
          </a:p>
        </p:txBody>
      </p:sp>
      <p:sp>
        <p:nvSpPr>
          <p:cNvPr id="15" name="Rounded Rectangle 14"/>
          <p:cNvSpPr/>
          <p:nvPr/>
        </p:nvSpPr>
        <p:spPr>
          <a:xfrm>
            <a:off x="6217920" y="3931920"/>
            <a:ext cx="5303520" cy="2194560"/>
          </a:xfrm>
          <a:prstGeom prst="roundRect">
            <a:avLst/>
          </a:prstGeom>
          <a:solidFill>
            <a:srgbClr val="162A45"/>
          </a:solidFill>
          <a:ln w="19050">
            <a:solidFill>
              <a:srgbClr val="68D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023360"/>
            <a:ext cx="4572000" cy="365760"/>
          </a:xfrm>
          <a:prstGeom prst="rect">
            <a:avLst/>
          </a:prstGeom>
          <a:noFill/>
        </p:spPr>
        <p:txBody>
          <a:bodyPr wrap="square">
            <a:spAutoFit/>
          </a:bodyPr>
          <a:lstStyle/>
          <a:p>
            <a:pPr algn="l">
              <a:defRPr sz="1600" b="1">
                <a:solidFill>
                  <a:srgbClr val="68D391"/>
                </a:solidFill>
                <a:latin typeface="Segoe UI" panose="020B0502040204020203"/>
              </a:defRPr>
            </a:pPr>
            <a:r>
              <a:t>LIS — Longest Increasing Subseq (DP)</a:t>
            </a:r>
          </a:p>
        </p:txBody>
      </p:sp>
      <p:sp>
        <p:nvSpPr>
          <p:cNvPr id="17" name="TextBox 16"/>
          <p:cNvSpPr txBox="1"/>
          <p:nvPr/>
        </p:nvSpPr>
        <p:spPr>
          <a:xfrm>
            <a:off x="6492240" y="4434840"/>
            <a:ext cx="4754880" cy="1554480"/>
          </a:xfrm>
          <a:prstGeom prst="rect">
            <a:avLst/>
          </a:prstGeom>
          <a:noFill/>
        </p:spPr>
        <p:txBody>
          <a:bodyPr wrap="square">
            <a:spAutoFit/>
          </a:bodyPr>
          <a:lstStyle/>
          <a:p>
            <a:pPr>
              <a:spcAft>
                <a:spcPts val="600"/>
              </a:spcAft>
              <a:defRPr sz="1200">
                <a:solidFill>
                  <a:srgbClr val="CBD5E0"/>
                </a:solidFill>
                <a:latin typeface="Segoe UI" panose="020B0502040204020203"/>
              </a:defRPr>
            </a:pPr>
            <a:r>
              <a:t>Input: array of document IDs</a:t>
            </a:r>
          </a:p>
          <a:p>
            <a:pPr>
              <a:spcAft>
                <a:spcPts val="600"/>
              </a:spcAft>
              <a:defRPr sz="1200">
                <a:solidFill>
                  <a:srgbClr val="CBD5E0"/>
                </a:solidFill>
                <a:latin typeface="Segoe UI" panose="020B0502040204020203"/>
              </a:defRPr>
            </a:pPr>
            <a:r>
              <a:t>Classic O(n²) DP approach</a:t>
            </a:r>
          </a:p>
          <a:p>
            <a:pPr>
              <a:spcAft>
                <a:spcPts val="600"/>
              </a:spcAft>
              <a:defRPr sz="1200">
                <a:solidFill>
                  <a:srgbClr val="CBD5E0"/>
                </a:solidFill>
                <a:latin typeface="Segoe UI" panose="020B0502040204020203"/>
              </a:defRPr>
            </a:pPr>
            <a:r>
              <a:t>Tracks parent[] for reconstruction</a:t>
            </a:r>
          </a:p>
          <a:p>
            <a:pPr>
              <a:spcAft>
                <a:spcPts val="600"/>
              </a:spcAft>
              <a:defRPr sz="1200">
                <a:solidFill>
                  <a:srgbClr val="CBD5E0"/>
                </a:solidFill>
                <a:latin typeface="Segoe UI" panose="020B0502040204020203"/>
              </a:defRPr>
            </a:pPr>
            <a:r>
              <a:t>Use: Find increasing ID pattern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81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2743200" cy="457200"/>
          </a:xfrm>
          <a:prstGeom prst="rect">
            <a:avLst/>
          </a:prstGeom>
          <a:noFill/>
        </p:spPr>
        <p:txBody>
          <a:bodyPr wrap="square">
            <a:spAutoFit/>
          </a:bodyPr>
          <a:lstStyle/>
          <a:p>
            <a:pPr algn="l">
              <a:defRPr sz="1600" b="1">
                <a:solidFill>
                  <a:srgbClr val="81E6D9"/>
                </a:solidFill>
                <a:latin typeface="Segoe UI" panose="020B0502040204020203"/>
              </a:defRPr>
            </a:pPr>
            <a:r>
              <a:t>CO1 Deep Dive</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Indexing Algorithm Implementation</a:t>
            </a:r>
          </a:p>
        </p:txBody>
      </p:sp>
      <p:sp>
        <p:nvSpPr>
          <p:cNvPr id="5" name="Rectangle 4"/>
          <p:cNvSpPr/>
          <p:nvPr/>
        </p:nvSpPr>
        <p:spPr>
          <a:xfrm>
            <a:off x="731520" y="1188720"/>
            <a:ext cx="2286000" cy="38100"/>
          </a:xfrm>
          <a:prstGeom prst="rect">
            <a:avLst/>
          </a:prstGeom>
          <a:solidFill>
            <a:srgbClr val="81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11155680" cy="164592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81E6D9"/>
                </a:solidFill>
                <a:latin typeface="Segoe UI" panose="020B0502040204020203"/>
              </a:defRPr>
            </a:pPr>
            <a:r>
              <a:t>Data Handling &amp; Document Mapping</a:t>
            </a:r>
          </a:p>
        </p:txBody>
      </p:sp>
      <p:sp>
        <p:nvSpPr>
          <p:cNvPr id="8" name="TextBox 7"/>
          <p:cNvSpPr txBox="1"/>
          <p:nvPr/>
        </p:nvSpPr>
        <p:spPr>
          <a:xfrm>
            <a:off x="822960" y="2011680"/>
            <a:ext cx="10515600" cy="914400"/>
          </a:xfrm>
          <a:prstGeom prst="rect">
            <a:avLst/>
          </a:prstGeom>
          <a:noFill/>
        </p:spPr>
        <p:txBody>
          <a:bodyPr wrap="square">
            <a:spAutoFit/>
          </a:bodyPr>
          <a:lstStyle/>
          <a:p>
            <a:pPr algn="l">
              <a:defRPr sz="1400" b="0">
                <a:solidFill>
                  <a:srgbClr val="CBD5E0"/>
                </a:solidFill>
                <a:latin typeface="Segoe UI" panose="020B0502040204020203"/>
              </a:defRPr>
            </a:pPr>
            <a:r>
              <a:t>The models.Document objects are explicitly wrapped inside BSTNode and AVLNode. The algorithms route strictly on document.documentId as the primary numeric key. When addSharedDocument(doc) triggers, it cascades the insert sequentially to bst.insert(doc) and avl.insert(doc).</a:t>
            </a:r>
          </a:p>
        </p:txBody>
      </p:sp>
      <p:sp>
        <p:nvSpPr>
          <p:cNvPr id="9" name="Rounded Rectangle 8"/>
          <p:cNvSpPr/>
          <p:nvPr/>
        </p:nvSpPr>
        <p:spPr>
          <a:xfrm>
            <a:off x="548640" y="3291840"/>
            <a:ext cx="11155680" cy="320040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832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Algorithm Logic Implementation</a:t>
            </a:r>
          </a:p>
        </p:txBody>
      </p:sp>
      <p:sp>
        <p:nvSpPr>
          <p:cNvPr id="11" name="TextBox 10"/>
          <p:cNvSpPr txBox="1"/>
          <p:nvPr/>
        </p:nvSpPr>
        <p:spPr>
          <a:xfrm>
            <a:off x="822960" y="3840480"/>
            <a:ext cx="10515600" cy="2560320"/>
          </a:xfrm>
          <a:prstGeom prst="rect">
            <a:avLst/>
          </a:prstGeom>
          <a:noFill/>
        </p:spPr>
        <p:txBody>
          <a:bodyPr wrap="square">
            <a:spAutoFit/>
          </a:bodyPr>
          <a:lstStyle/>
          <a:p>
            <a:pPr>
              <a:spcAft>
                <a:spcPts val="600"/>
              </a:spcAft>
              <a:defRPr sz="1400">
                <a:solidFill>
                  <a:srgbClr val="CBD5E0"/>
                </a:solidFill>
                <a:latin typeface="Segoe UI" panose="020B0502040204020203"/>
              </a:defRPr>
            </a:pPr>
            <a:r>
              <a:t>BST Logic: The insert algorithm performs an O(h) iterative walk-down, comparing document IDs, and instantiates a new BSTNode containing the exact Document reference in memory.</a:t>
            </a:r>
          </a:p>
          <a:p>
            <a:pPr>
              <a:spcAft>
                <a:spcPts val="600"/>
              </a:spcAft>
              <a:defRPr sz="1400">
                <a:solidFill>
                  <a:srgbClr val="CBD5E0"/>
                </a:solidFill>
                <a:latin typeface="Segoe UI" panose="020B0502040204020203"/>
              </a:defRPr>
            </a:pPr>
            <a:r>
              <a:t>AVL Logic: Similar to BST, but explicitly tracks subtree heights. On insertion, getBalance() checks for violations (&gt;1 or &lt;-1) and automatically triggers LL, RR, LR, or RL rotations to guarantee O(log n) tree shape.</a:t>
            </a:r>
          </a:p>
          <a:p>
            <a:pPr>
              <a:spcAft>
                <a:spcPts val="600"/>
              </a:spcAft>
              <a:defRPr sz="1400">
                <a:solidFill>
                  <a:srgbClr val="CBD5E0"/>
                </a:solidFill>
                <a:latin typeface="Segoe UI" panose="020B0502040204020203"/>
              </a:defRPr>
            </a:pPr>
            <a:r>
              <a:t>Retrieval: Searching traverses the numeric IDs. Upon finding a match, the algorithm returns the literal Document object reference, enabling O(1) attribute access without duplicating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EDD8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2743200" cy="457200"/>
          </a:xfrm>
          <a:prstGeom prst="rect">
            <a:avLst/>
          </a:prstGeom>
          <a:noFill/>
        </p:spPr>
        <p:txBody>
          <a:bodyPr wrap="square">
            <a:spAutoFit/>
          </a:bodyPr>
          <a:lstStyle/>
          <a:p>
            <a:pPr algn="l">
              <a:defRPr sz="1600" b="1">
                <a:solidFill>
                  <a:srgbClr val="EDD88B"/>
                </a:solidFill>
                <a:latin typeface="Segoe UI" panose="020B0502040204020203"/>
              </a:defRPr>
            </a:pPr>
            <a:r>
              <a:t>CO2 Deep Dive</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Analytics Trees Processing Logic</a:t>
            </a:r>
          </a:p>
        </p:txBody>
      </p:sp>
      <p:sp>
        <p:nvSpPr>
          <p:cNvPr id="5" name="Rectangle 4"/>
          <p:cNvSpPr/>
          <p:nvPr/>
        </p:nvSpPr>
        <p:spPr>
          <a:xfrm>
            <a:off x="731520" y="1188720"/>
            <a:ext cx="2286000" cy="38100"/>
          </a:xfrm>
          <a:prstGeom prst="rect">
            <a:avLst/>
          </a:prstGeom>
          <a:solidFill>
            <a:srgbClr val="EDD8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11155680" cy="164592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Data Handling &amp; Document Mapping</a:t>
            </a:r>
          </a:p>
        </p:txBody>
      </p:sp>
      <p:sp>
        <p:nvSpPr>
          <p:cNvPr id="8" name="TextBox 7"/>
          <p:cNvSpPr txBox="1"/>
          <p:nvPr/>
        </p:nvSpPr>
        <p:spPr>
          <a:xfrm>
            <a:off x="822960" y="2011680"/>
            <a:ext cx="10515600" cy="914400"/>
          </a:xfrm>
          <a:prstGeom prst="rect">
            <a:avLst/>
          </a:prstGeom>
          <a:noFill/>
        </p:spPr>
        <p:txBody>
          <a:bodyPr wrap="square">
            <a:spAutoFit/>
          </a:bodyPr>
          <a:lstStyle/>
          <a:p>
            <a:pPr algn="l">
              <a:defRPr sz="1400" b="0">
                <a:solidFill>
                  <a:srgbClr val="CBD5E0"/>
                </a:solidFill>
                <a:latin typeface="Segoe UI" panose="020B0502040204020203"/>
              </a:defRPr>
            </a:pPr>
            <a:r>
              <a:t>Unlike the persistent indexing trees, the Analytics modules (Fenwick, Segment, B-Tree) map to the central documents ArrayList dynamically. They are reconstructed on-the-fly via build() methods to guarantee data consistency.</a:t>
            </a:r>
          </a:p>
        </p:txBody>
      </p:sp>
      <p:sp>
        <p:nvSpPr>
          <p:cNvPr id="9" name="Rounded Rectangle 8"/>
          <p:cNvSpPr/>
          <p:nvPr/>
        </p:nvSpPr>
        <p:spPr>
          <a:xfrm>
            <a:off x="548640" y="3291840"/>
            <a:ext cx="11155680" cy="320040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832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Algorithm Logic Implementation</a:t>
            </a:r>
          </a:p>
        </p:txBody>
      </p:sp>
      <p:sp>
        <p:nvSpPr>
          <p:cNvPr id="11" name="TextBox 10"/>
          <p:cNvSpPr txBox="1"/>
          <p:nvPr/>
        </p:nvSpPr>
        <p:spPr>
          <a:xfrm>
            <a:off x="822960" y="3840480"/>
            <a:ext cx="10515600" cy="2560320"/>
          </a:xfrm>
          <a:prstGeom prst="rect">
            <a:avLst/>
          </a:prstGeom>
          <a:noFill/>
        </p:spPr>
        <p:txBody>
          <a:bodyPr wrap="square">
            <a:spAutoFit/>
          </a:bodyPr>
          <a:lstStyle/>
          <a:p>
            <a:pPr>
              <a:spcAft>
                <a:spcPts val="600"/>
              </a:spcAft>
              <a:defRPr sz="1400">
                <a:solidFill>
                  <a:srgbClr val="CBD5E0"/>
                </a:solidFill>
                <a:latin typeface="Segoe UI" panose="020B0502040204020203"/>
              </a:defRPr>
            </a:pPr>
            <a:r>
              <a:t>Fenwick Tree (BIT): Iterates through documents using an implicit 1-indexed array. The update(i, val) function uses bitwise operations (i &amp; -i) to add values to subsequent nodes, granting O(log n) prefix sums.</a:t>
            </a:r>
          </a:p>
          <a:p>
            <a:pPr>
              <a:spcAft>
                <a:spcPts val="600"/>
              </a:spcAft>
              <a:defRPr sz="1400">
                <a:solidFill>
                  <a:srgbClr val="CBD5E0"/>
                </a:solidFill>
                <a:latin typeface="Segoe UI" panose="020B0502040204020203"/>
              </a:defRPr>
            </a:pPr>
            <a:r>
              <a:t>Segment Tree: Allocates a 1D tree[] array of size 4N. A recursive build(node, start, end) calculates the aggregate values (e.g. sums of document IDs) for localized segments of the document pool.</a:t>
            </a:r>
          </a:p>
          <a:p>
            <a:pPr>
              <a:spcAft>
                <a:spcPts val="600"/>
              </a:spcAft>
              <a:defRPr sz="1400">
                <a:solidFill>
                  <a:srgbClr val="CBD5E0"/>
                </a:solidFill>
                <a:latin typeface="Segoe UI" panose="020B0502040204020203"/>
              </a:defRPr>
            </a:pPr>
            <a:r>
              <a:t>B+ Tree: Distributes keys across nodes with a set 'order'. The keys are explicitly documentIds. Leaf nodes retain an ArrayList&lt;Integer&gt; data buffer which enables direct linear rangeSearch(start, end) without recursing up the tree.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68D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2743200" cy="457200"/>
          </a:xfrm>
          <a:prstGeom prst="rect">
            <a:avLst/>
          </a:prstGeom>
          <a:noFill/>
        </p:spPr>
        <p:txBody>
          <a:bodyPr wrap="square">
            <a:spAutoFit/>
          </a:bodyPr>
          <a:lstStyle/>
          <a:p>
            <a:pPr algn="l">
              <a:defRPr sz="1600" b="1">
                <a:solidFill>
                  <a:srgbClr val="68D391"/>
                </a:solidFill>
                <a:latin typeface="Segoe UI" panose="020B0502040204020203"/>
              </a:defRPr>
            </a:pPr>
            <a:r>
              <a:t>CO3 Deep Dive</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Network Graph &amp; Traversal Mapping</a:t>
            </a:r>
          </a:p>
        </p:txBody>
      </p:sp>
      <p:sp>
        <p:nvSpPr>
          <p:cNvPr id="5" name="Rectangle 4"/>
          <p:cNvSpPr/>
          <p:nvPr/>
        </p:nvSpPr>
        <p:spPr>
          <a:xfrm>
            <a:off x="731520" y="1188720"/>
            <a:ext cx="2286000" cy="38100"/>
          </a:xfrm>
          <a:prstGeom prst="rect">
            <a:avLst/>
          </a:prstGeom>
          <a:solidFill>
            <a:srgbClr val="68D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11155680" cy="164592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68D391"/>
                </a:solidFill>
                <a:latin typeface="Segoe UI" panose="020B0502040204020203"/>
              </a:defRPr>
            </a:pPr>
            <a:r>
              <a:t>Data Handling &amp; Document Mapping</a:t>
            </a:r>
          </a:p>
        </p:txBody>
      </p:sp>
      <p:sp>
        <p:nvSpPr>
          <p:cNvPr id="8" name="TextBox 7"/>
          <p:cNvSpPr txBox="1"/>
          <p:nvPr/>
        </p:nvSpPr>
        <p:spPr>
          <a:xfrm>
            <a:off x="822960" y="2011680"/>
            <a:ext cx="10515600" cy="914400"/>
          </a:xfrm>
          <a:prstGeom prst="rect">
            <a:avLst/>
          </a:prstGeom>
          <a:noFill/>
        </p:spPr>
        <p:txBody>
          <a:bodyPr wrap="square">
            <a:spAutoFit/>
          </a:bodyPr>
          <a:lstStyle/>
          <a:p>
            <a:pPr algn="l">
              <a:defRPr sz="1400" b="0">
                <a:solidFill>
                  <a:srgbClr val="CBD5E0"/>
                </a:solidFill>
                <a:latin typeface="Segoe UI" panose="020B0502040204020203"/>
              </a:defRPr>
            </a:pPr>
            <a:r>
              <a:t>The Graph maps relationships using an adjacency list ArrayList&lt;Integer&gt;[] adj. Crucially, the vertices are NOT the Documents themselves, but their integer indices (0 to N-1) inside the main documents array list.</a:t>
            </a:r>
          </a:p>
        </p:txBody>
      </p:sp>
      <p:sp>
        <p:nvSpPr>
          <p:cNvPr id="9" name="Rounded Rectangle 8"/>
          <p:cNvSpPr/>
          <p:nvPr/>
        </p:nvSpPr>
        <p:spPr>
          <a:xfrm>
            <a:off x="548640" y="3291840"/>
            <a:ext cx="11155680" cy="320040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832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Algorithm Logic Implementation</a:t>
            </a:r>
          </a:p>
        </p:txBody>
      </p:sp>
      <p:sp>
        <p:nvSpPr>
          <p:cNvPr id="11" name="TextBox 10"/>
          <p:cNvSpPr txBox="1"/>
          <p:nvPr/>
        </p:nvSpPr>
        <p:spPr>
          <a:xfrm>
            <a:off x="822960" y="3840480"/>
            <a:ext cx="10515600" cy="2560320"/>
          </a:xfrm>
          <a:prstGeom prst="rect">
            <a:avLst/>
          </a:prstGeom>
          <a:noFill/>
        </p:spPr>
        <p:txBody>
          <a:bodyPr wrap="square">
            <a:spAutoFit/>
          </a:bodyPr>
          <a:lstStyle/>
          <a:p>
            <a:pPr>
              <a:spcAft>
                <a:spcPts val="600"/>
              </a:spcAft>
              <a:defRPr sz="1400">
                <a:solidFill>
                  <a:srgbClr val="CBD5E0"/>
                </a:solidFill>
                <a:latin typeface="Segoe UI" panose="020B0502040204020203"/>
              </a:defRPr>
            </a:pPr>
            <a:r>
              <a:t>Dynamic Resizing: When a Document is appended globally, graph.resize(n) allocates a larger adjacency array, copying existing edges intact. Deletion triggers a complex re-indexing of all edges &gt; deletedIndex.</a:t>
            </a:r>
          </a:p>
          <a:p>
            <a:pPr>
              <a:spcAft>
                <a:spcPts val="600"/>
              </a:spcAft>
              <a:defRPr sz="1400">
                <a:solidFill>
                  <a:srgbClr val="CBD5E0"/>
                </a:solidFill>
                <a:latin typeface="Segoe UI" panose="020B0502040204020203"/>
              </a:defRPr>
            </a:pPr>
            <a:r>
              <a:t>BFS Execution: A standard Queue pushes the starting index, exploring immediate network neighbors in O(V+E). Discovered indices are passed back to documents.get(i) to print the associated Document Title.</a:t>
            </a:r>
          </a:p>
          <a:p>
            <a:pPr>
              <a:spcAft>
                <a:spcPts val="600"/>
              </a:spcAft>
              <a:defRPr sz="1400">
                <a:solidFill>
                  <a:srgbClr val="CBD5E0"/>
                </a:solidFill>
                <a:latin typeface="Segoe UI" panose="020B0502040204020203"/>
              </a:defRPr>
            </a:pPr>
            <a:r>
              <a:t>DFS Execution: A recursive function passes a boolean[] visited array, driving deep into the network connections to map long-range document dependencies.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2743200" cy="457200"/>
          </a:xfrm>
          <a:prstGeom prst="rect">
            <a:avLst/>
          </a:prstGeom>
          <a:noFill/>
        </p:spPr>
        <p:txBody>
          <a:bodyPr wrap="square">
            <a:spAutoFit/>
          </a:bodyPr>
          <a:lstStyle/>
          <a:p>
            <a:pPr algn="l">
              <a:defRPr sz="1600" b="1">
                <a:solidFill>
                  <a:srgbClr val="38B2AC"/>
                </a:solidFill>
                <a:latin typeface="Segoe UI" panose="020B0502040204020203"/>
              </a:defRPr>
            </a:pPr>
            <a:r>
              <a:t>CO4 Deep Dive</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Path Optimization Matrices</a:t>
            </a:r>
          </a:p>
        </p:txBody>
      </p:sp>
      <p:sp>
        <p:nvSpPr>
          <p:cNvPr id="5" name="Rectangle 4"/>
          <p:cNvSpPr/>
          <p:nvPr/>
        </p:nvSpPr>
        <p:spPr>
          <a:xfrm>
            <a:off x="731520" y="118872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11155680" cy="164592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38B2AC"/>
                </a:solidFill>
                <a:latin typeface="Segoe UI" panose="020B0502040204020203"/>
              </a:defRPr>
            </a:pPr>
            <a:r>
              <a:t>Data Handling &amp; Document Mapping</a:t>
            </a:r>
          </a:p>
        </p:txBody>
      </p:sp>
      <p:sp>
        <p:nvSpPr>
          <p:cNvPr id="8" name="TextBox 7"/>
          <p:cNvSpPr txBox="1"/>
          <p:nvPr/>
        </p:nvSpPr>
        <p:spPr>
          <a:xfrm>
            <a:off x="822960" y="2011680"/>
            <a:ext cx="10515600" cy="914400"/>
          </a:xfrm>
          <a:prstGeom prst="rect">
            <a:avLst/>
          </a:prstGeom>
          <a:noFill/>
        </p:spPr>
        <p:txBody>
          <a:bodyPr wrap="square">
            <a:spAutoFit/>
          </a:bodyPr>
          <a:lstStyle/>
          <a:p>
            <a:pPr algn="l">
              <a:defRPr sz="1400" b="0">
                <a:solidFill>
                  <a:srgbClr val="CBD5E0"/>
                </a:solidFill>
                <a:latin typeface="Segoe UI" panose="020B0502040204020203"/>
              </a:defRPr>
            </a:pPr>
            <a:r>
              <a:t>The system maintains a 2D integer matrix routeCosts[u][v]. Similar to the Graph, 'u' and 'v' represent document array indices. Disconnected documents hold Dijkstra.INF (999999), and self-loops are explicitly 0.</a:t>
            </a:r>
          </a:p>
        </p:txBody>
      </p:sp>
      <p:sp>
        <p:nvSpPr>
          <p:cNvPr id="9" name="Rounded Rectangle 8"/>
          <p:cNvSpPr/>
          <p:nvPr/>
        </p:nvSpPr>
        <p:spPr>
          <a:xfrm>
            <a:off x="548640" y="3291840"/>
            <a:ext cx="11155680" cy="320040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832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Algorithm Logic Implementation</a:t>
            </a:r>
          </a:p>
        </p:txBody>
      </p:sp>
      <p:sp>
        <p:nvSpPr>
          <p:cNvPr id="11" name="TextBox 10"/>
          <p:cNvSpPr txBox="1"/>
          <p:nvPr/>
        </p:nvSpPr>
        <p:spPr>
          <a:xfrm>
            <a:off x="822960" y="3840480"/>
            <a:ext cx="10515600" cy="2560320"/>
          </a:xfrm>
          <a:prstGeom prst="rect">
            <a:avLst/>
          </a:prstGeom>
          <a:noFill/>
        </p:spPr>
        <p:txBody>
          <a:bodyPr wrap="square">
            <a:spAutoFit/>
          </a:bodyPr>
          <a:lstStyle/>
          <a:p>
            <a:pPr>
              <a:spcAft>
                <a:spcPts val="600"/>
              </a:spcAft>
              <a:defRPr sz="1400">
                <a:solidFill>
                  <a:srgbClr val="CBD5E0"/>
                </a:solidFill>
                <a:latin typeface="Segoe UI" panose="020B0502040204020203"/>
              </a:defRPr>
            </a:pPr>
            <a:r>
              <a:t>Matrix Scaling: resizeRouteCosts() triggers on new document creation. It allocates a new (N+1)x(N+1) array, copies prior routing costs, and sets all new row/col bounds to INF.</a:t>
            </a:r>
          </a:p>
          <a:p>
            <a:pPr>
              <a:spcAft>
                <a:spcPts val="600"/>
              </a:spcAft>
              <a:defRPr sz="1400">
                <a:solidFill>
                  <a:srgbClr val="CBD5E0"/>
                </a:solidFill>
                <a:latin typeface="Segoe UI" panose="020B0502040204020203"/>
              </a:defRPr>
            </a:pPr>
            <a:r>
              <a:t>Dijkstra Logic: A greedy algorithm employing a boolean[] sptSet. It minimizes path costs by iterating the matrix, relaxing cost[u][v] if path(source..u) + cost(u..v) &lt; current path(source..v).</a:t>
            </a:r>
          </a:p>
          <a:p>
            <a:pPr>
              <a:spcAft>
                <a:spcPts val="600"/>
              </a:spcAft>
              <a:defRPr sz="1400">
                <a:solidFill>
                  <a:srgbClr val="CBD5E0"/>
                </a:solidFill>
                <a:latin typeface="Segoe UI" panose="020B0502040204020203"/>
              </a:defRPr>
            </a:pPr>
            <a:r>
              <a:t>Floyd-Warshall Logic: A dynamic programming triple-nested loop (k, i, j). It evaluates if routing document 'i' through an intermediate document 'k' to reach 'j' offers a cheaper total weight.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81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2743200" cy="457200"/>
          </a:xfrm>
          <a:prstGeom prst="rect">
            <a:avLst/>
          </a:prstGeom>
          <a:noFill/>
        </p:spPr>
        <p:txBody>
          <a:bodyPr wrap="square">
            <a:spAutoFit/>
          </a:bodyPr>
          <a:lstStyle/>
          <a:p>
            <a:pPr algn="l">
              <a:defRPr sz="1600" b="1">
                <a:solidFill>
                  <a:srgbClr val="81E6D9"/>
                </a:solidFill>
                <a:latin typeface="Segoe UI" panose="020B0502040204020203"/>
              </a:defRPr>
            </a:pPr>
            <a:r>
              <a:t>CO5 Deep Dive</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Sorting &amp; Ranking Data Handling</a:t>
            </a:r>
          </a:p>
        </p:txBody>
      </p:sp>
      <p:sp>
        <p:nvSpPr>
          <p:cNvPr id="5" name="Rectangle 4"/>
          <p:cNvSpPr/>
          <p:nvPr/>
        </p:nvSpPr>
        <p:spPr>
          <a:xfrm>
            <a:off x="731520" y="1188720"/>
            <a:ext cx="2286000" cy="38100"/>
          </a:xfrm>
          <a:prstGeom prst="rect">
            <a:avLst/>
          </a:prstGeom>
          <a:solidFill>
            <a:srgbClr val="81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11155680" cy="164592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81E6D9"/>
                </a:solidFill>
                <a:latin typeface="Segoe UI" panose="020B0502040204020203"/>
              </a:defRPr>
            </a:pPr>
            <a:r>
              <a:t>Data Handling &amp; Document Mapping</a:t>
            </a:r>
          </a:p>
        </p:txBody>
      </p:sp>
      <p:sp>
        <p:nvSpPr>
          <p:cNvPr id="8" name="TextBox 7"/>
          <p:cNvSpPr txBox="1"/>
          <p:nvPr/>
        </p:nvSpPr>
        <p:spPr>
          <a:xfrm>
            <a:off x="822960" y="2011680"/>
            <a:ext cx="10515600" cy="914400"/>
          </a:xfrm>
          <a:prstGeom prst="rect">
            <a:avLst/>
          </a:prstGeom>
          <a:noFill/>
        </p:spPr>
        <p:txBody>
          <a:bodyPr wrap="square">
            <a:spAutoFit/>
          </a:bodyPr>
          <a:lstStyle/>
          <a:p>
            <a:pPr algn="l">
              <a:defRPr sz="1400" b="0">
                <a:solidFill>
                  <a:srgbClr val="CBD5E0"/>
                </a:solidFill>
                <a:latin typeface="Segoe UI" panose="020B0502040204020203"/>
              </a:defRPr>
            </a:pPr>
            <a:r>
              <a:t>To strictly prevent mutating or corrupting the global documents list order, all sorting algorithms generate a fresh, detached deep-copy Document[] array using getDocumentArray() before executing.</a:t>
            </a:r>
          </a:p>
        </p:txBody>
      </p:sp>
      <p:sp>
        <p:nvSpPr>
          <p:cNvPr id="9" name="Rounded Rectangle 8"/>
          <p:cNvSpPr/>
          <p:nvPr/>
        </p:nvSpPr>
        <p:spPr>
          <a:xfrm>
            <a:off x="548640" y="3291840"/>
            <a:ext cx="11155680" cy="320040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832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Algorithm Logic Implementation</a:t>
            </a:r>
          </a:p>
        </p:txBody>
      </p:sp>
      <p:sp>
        <p:nvSpPr>
          <p:cNvPr id="11" name="TextBox 10"/>
          <p:cNvSpPr txBox="1"/>
          <p:nvPr/>
        </p:nvSpPr>
        <p:spPr>
          <a:xfrm>
            <a:off x="822960" y="3840480"/>
            <a:ext cx="10515600" cy="2560320"/>
          </a:xfrm>
          <a:prstGeom prst="rect">
            <a:avLst/>
          </a:prstGeom>
          <a:noFill/>
        </p:spPr>
        <p:txBody>
          <a:bodyPr wrap="square">
            <a:spAutoFit/>
          </a:bodyPr>
          <a:lstStyle/>
          <a:p>
            <a:pPr>
              <a:spcAft>
                <a:spcPts val="600"/>
              </a:spcAft>
              <a:defRPr sz="1400">
                <a:solidFill>
                  <a:srgbClr val="CBD5E0"/>
                </a:solidFill>
                <a:latin typeface="Segoe UI" panose="020B0502040204020203"/>
              </a:defRPr>
            </a:pPr>
            <a:r>
              <a:t>Merge Sort: Recursively divides the array. Merges using standard numeric comparison on doc.documentId.</a:t>
            </a:r>
          </a:p>
          <a:p>
            <a:pPr>
              <a:spcAft>
                <a:spcPts val="600"/>
              </a:spcAft>
              <a:defRPr sz="1400">
                <a:solidFill>
                  <a:srgbClr val="CBD5E0"/>
                </a:solidFill>
                <a:latin typeface="Segoe UI" panose="020B0502040204020203"/>
              </a:defRPr>
            </a:pPr>
            <a:r>
              <a:t>Quick Sort: Employs Lomuto partition scheme. Pivot element logic is driven purely by doc.title.toLowerCase().compareTo() for clean alphabetical title sorting.</a:t>
            </a:r>
          </a:p>
          <a:p>
            <a:pPr>
              <a:spcAft>
                <a:spcPts val="600"/>
              </a:spcAft>
              <a:defRPr sz="1400">
                <a:solidFill>
                  <a:srgbClr val="CBD5E0"/>
                </a:solidFill>
                <a:latin typeface="Segoe UI" panose="020B0502040204020203"/>
              </a:defRPr>
            </a:pPr>
            <a:r>
              <a:t>Heap Sort: Transforms the cloned array into a Max-Heap structure using heapify(). The heap property is strictly dictated by doc.author.compareToIgnoreCase().</a:t>
            </a:r>
          </a:p>
          <a:p>
            <a:pPr>
              <a:spcAft>
                <a:spcPts val="600"/>
              </a:spcAft>
              <a:defRPr sz="1400">
                <a:solidFill>
                  <a:srgbClr val="CBD5E0"/>
                </a:solidFill>
                <a:latin typeface="Segoe UI" panose="020B0502040204020203"/>
              </a:defRPr>
            </a:pPr>
            <a:r>
              <a:t>Radix Sort: Implements counting sort recursively for every digit position based on documentId, applying (id / exp) % 10 math for robust non-comparative sorting.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EDD8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2743200" cy="457200"/>
          </a:xfrm>
          <a:prstGeom prst="rect">
            <a:avLst/>
          </a:prstGeom>
          <a:noFill/>
        </p:spPr>
        <p:txBody>
          <a:bodyPr wrap="square">
            <a:spAutoFit/>
          </a:bodyPr>
          <a:lstStyle/>
          <a:p>
            <a:pPr algn="l">
              <a:defRPr sz="1600" b="1">
                <a:solidFill>
                  <a:srgbClr val="EDD88B"/>
                </a:solidFill>
                <a:latin typeface="Segoe UI" panose="020B0502040204020203"/>
              </a:defRPr>
            </a:pPr>
            <a:r>
              <a:t>CO6 Deep Dive</a:t>
            </a:r>
          </a:p>
        </p:txBody>
      </p:sp>
      <p:sp>
        <p:nvSpPr>
          <p:cNvPr id="4" name="TextBox 3"/>
          <p:cNvSpPr txBox="1"/>
          <p:nvPr/>
        </p:nvSpPr>
        <p:spPr>
          <a:xfrm>
            <a:off x="731520" y="640080"/>
            <a:ext cx="10058400" cy="640080"/>
          </a:xfrm>
          <a:prstGeom prst="rect">
            <a:avLst/>
          </a:prstGeom>
          <a:noFill/>
        </p:spPr>
        <p:txBody>
          <a:bodyPr wrap="square">
            <a:spAutoFit/>
          </a:bodyPr>
          <a:lstStyle/>
          <a:p>
            <a:pPr algn="l">
              <a:defRPr sz="3200" b="1">
                <a:solidFill>
                  <a:srgbClr val="FFFFFF"/>
                </a:solidFill>
                <a:latin typeface="Segoe UI" panose="020B0502040204020203"/>
              </a:defRPr>
            </a:pPr>
            <a:r>
              <a:t>Storage DP &amp; Greedy Processing</a:t>
            </a:r>
          </a:p>
        </p:txBody>
      </p:sp>
      <p:sp>
        <p:nvSpPr>
          <p:cNvPr id="5" name="Rectangle 4"/>
          <p:cNvSpPr/>
          <p:nvPr/>
        </p:nvSpPr>
        <p:spPr>
          <a:xfrm>
            <a:off x="731520" y="1188720"/>
            <a:ext cx="2286000" cy="38100"/>
          </a:xfrm>
          <a:prstGeom prst="rect">
            <a:avLst/>
          </a:prstGeom>
          <a:solidFill>
            <a:srgbClr val="EDD8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11155680" cy="164592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Data Handling &amp; Document Mapping</a:t>
            </a:r>
          </a:p>
        </p:txBody>
      </p:sp>
      <p:sp>
        <p:nvSpPr>
          <p:cNvPr id="8" name="TextBox 7"/>
          <p:cNvSpPr txBox="1"/>
          <p:nvPr/>
        </p:nvSpPr>
        <p:spPr>
          <a:xfrm>
            <a:off x="822960" y="2011680"/>
            <a:ext cx="10515600" cy="914400"/>
          </a:xfrm>
          <a:prstGeom prst="rect">
            <a:avLst/>
          </a:prstGeom>
          <a:noFill/>
        </p:spPr>
        <p:txBody>
          <a:bodyPr wrap="square">
            <a:spAutoFit/>
          </a:bodyPr>
          <a:lstStyle/>
          <a:p>
            <a:pPr algn="l">
              <a:defRPr sz="1400" b="0">
                <a:solidFill>
                  <a:srgbClr val="CBD5E0"/>
                </a:solidFill>
                <a:latin typeface="Segoe UI" panose="020B0502040204020203"/>
              </a:defRPr>
            </a:pPr>
            <a:r>
              <a:t>Storage algorithms map the generic document structures into isolated primitive integer arrays (weight[], value[], start[], finish[]) to efficiently perform intensive math without object overhead.</a:t>
            </a:r>
          </a:p>
        </p:txBody>
      </p:sp>
      <p:sp>
        <p:nvSpPr>
          <p:cNvPr id="9" name="Rounded Rectangle 8"/>
          <p:cNvSpPr/>
          <p:nvPr/>
        </p:nvSpPr>
        <p:spPr>
          <a:xfrm>
            <a:off x="548640" y="3291840"/>
            <a:ext cx="11155680" cy="320040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83280"/>
            <a:ext cx="4572000" cy="365760"/>
          </a:xfrm>
          <a:prstGeom prst="rect">
            <a:avLst/>
          </a:prstGeom>
          <a:noFill/>
        </p:spPr>
        <p:txBody>
          <a:bodyPr wrap="square">
            <a:spAutoFit/>
          </a:bodyPr>
          <a:lstStyle/>
          <a:p>
            <a:pPr algn="l">
              <a:defRPr sz="1800" b="1">
                <a:solidFill>
                  <a:srgbClr val="EDD88B"/>
                </a:solidFill>
                <a:latin typeface="Segoe UI" panose="020B0502040204020203"/>
              </a:defRPr>
            </a:pPr>
            <a:r>
              <a:t>Algorithm Logic Implementation</a:t>
            </a:r>
          </a:p>
        </p:txBody>
      </p:sp>
      <p:sp>
        <p:nvSpPr>
          <p:cNvPr id="11" name="TextBox 10"/>
          <p:cNvSpPr txBox="1"/>
          <p:nvPr/>
        </p:nvSpPr>
        <p:spPr>
          <a:xfrm>
            <a:off x="822960" y="3840480"/>
            <a:ext cx="10515600" cy="2560320"/>
          </a:xfrm>
          <a:prstGeom prst="rect">
            <a:avLst/>
          </a:prstGeom>
          <a:noFill/>
        </p:spPr>
        <p:txBody>
          <a:bodyPr wrap="square">
            <a:spAutoFit/>
          </a:bodyPr>
          <a:lstStyle/>
          <a:p>
            <a:pPr>
              <a:spcAft>
                <a:spcPts val="600"/>
              </a:spcAft>
              <a:defRPr sz="1400">
                <a:solidFill>
                  <a:srgbClr val="CBD5E0"/>
                </a:solidFill>
                <a:latin typeface="Segoe UI" panose="020B0502040204020203"/>
              </a:defRPr>
            </a:pPr>
            <a:r>
              <a:t>Activity Selection: Binds start/finish arrays alongside a custom Integer[] index array. Sorting indices based on finish times allows an optimal greedy extraction of non-overlapping tasks.</a:t>
            </a:r>
          </a:p>
          <a:p>
            <a:pPr>
              <a:spcAft>
                <a:spcPts val="600"/>
              </a:spcAft>
              <a:defRPr sz="1400">
                <a:solidFill>
                  <a:srgbClr val="CBD5E0"/>
                </a:solidFill>
                <a:latin typeface="Segoe UI" panose="020B0502040204020203"/>
              </a:defRPr>
            </a:pPr>
            <a:r>
              <a:t>0/1 Knapsack: Constructs a massive DP table dp[i][W]. If weight &gt; capacity, it pulls dp[i-1][w]. Else, it calculates Math.max(val + dp[i-1][w-weight], dp[i-1][w]).</a:t>
            </a:r>
          </a:p>
          <a:p>
            <a:pPr>
              <a:spcAft>
                <a:spcPts val="600"/>
              </a:spcAft>
              <a:defRPr sz="1400">
                <a:solidFill>
                  <a:srgbClr val="CBD5E0"/>
                </a:solidFill>
                <a:latin typeface="Segoe UI" panose="020B0502040204020203"/>
              </a:defRPr>
            </a:pPr>
            <a:r>
              <a:t>Backtracking (DP Reconstruction): Instead of just returning max value, 0/1 Knapsack loops backward from dp[n][W]. When the value shifts, it identifies the exact document chosen and prints it via documents.get(i-1).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0410" y="274320"/>
            <a:ext cx="10058400" cy="640080"/>
          </a:xfrm>
          <a:prstGeom prst="rect">
            <a:avLst/>
          </a:prstGeom>
          <a:noFill/>
        </p:spPr>
        <p:txBody>
          <a:bodyPr wrap="square">
            <a:spAutoFit/>
          </a:bodyPr>
          <a:lstStyle/>
          <a:p>
            <a:pPr algn="l">
              <a:defRPr sz="3600" b="1">
                <a:solidFill>
                  <a:srgbClr val="FFFFFF"/>
                </a:solidFill>
                <a:latin typeface="Segoe UI" panose="020B0502040204020203"/>
              </a:defRPr>
            </a:pPr>
            <a:r>
              <a:t>Execution Flow</a:t>
            </a:r>
          </a:p>
        </p:txBody>
      </p:sp>
      <p:sp>
        <p:nvSpPr>
          <p:cNvPr id="4" name="Rectangle 3"/>
          <p:cNvSpPr/>
          <p:nvPr/>
        </p:nvSpPr>
        <p:spPr>
          <a:xfrm>
            <a:off x="731520" y="91440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920240" cy="182880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737360" cy="640080"/>
          </a:xfrm>
          <a:prstGeom prst="rect">
            <a:avLst/>
          </a:prstGeom>
          <a:noFill/>
        </p:spPr>
        <p:txBody>
          <a:bodyPr wrap="square">
            <a:spAutoFit/>
          </a:bodyPr>
          <a:lstStyle/>
          <a:p>
            <a:pPr algn="ctr">
              <a:defRPr sz="1400" b="1">
                <a:solidFill>
                  <a:srgbClr val="38B2AC"/>
                </a:solidFill>
                <a:latin typeface="Segoe UI" panose="020B0502040204020203"/>
              </a:defRPr>
            </a:pPr>
            <a:r>
              <a:t>LOGIN</a:t>
            </a:r>
          </a:p>
        </p:txBody>
      </p:sp>
      <p:sp>
        <p:nvSpPr>
          <p:cNvPr id="7" name="TextBox 6"/>
          <p:cNvSpPr txBox="1"/>
          <p:nvPr/>
        </p:nvSpPr>
        <p:spPr>
          <a:xfrm>
            <a:off x="822960" y="2103120"/>
            <a:ext cx="1737360" cy="914400"/>
          </a:xfrm>
          <a:prstGeom prst="rect">
            <a:avLst/>
          </a:prstGeom>
          <a:noFill/>
        </p:spPr>
        <p:txBody>
          <a:bodyPr wrap="square">
            <a:spAutoFit/>
          </a:bodyPr>
          <a:lstStyle/>
          <a:p>
            <a:pPr algn="ctr">
              <a:defRPr sz="1100" b="0">
                <a:solidFill>
                  <a:srgbClr val="CBD5E0"/>
                </a:solidFill>
                <a:latin typeface="Segoe UI" panose="020B0502040204020203"/>
              </a:defRPr>
            </a:pPr>
            <a:r>
              <a:t>admin/admin123</a:t>
            </a:r>
            <a:br/>
            <a:r>
              <a:t>user/user123</a:t>
            </a:r>
          </a:p>
        </p:txBody>
      </p:sp>
      <p:sp>
        <p:nvSpPr>
          <p:cNvPr id="8" name="Rounded Rectangle 7"/>
          <p:cNvSpPr/>
          <p:nvPr/>
        </p:nvSpPr>
        <p:spPr>
          <a:xfrm>
            <a:off x="3017520" y="1371600"/>
            <a:ext cx="1920240" cy="1828800"/>
          </a:xfrm>
          <a:prstGeom prst="roundRect">
            <a:avLst/>
          </a:prstGeom>
          <a:solidFill>
            <a:srgbClr val="162A45"/>
          </a:solidFill>
          <a:ln w="19050">
            <a:solidFill>
              <a:srgbClr val="EDD8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463040"/>
            <a:ext cx="1737360" cy="640080"/>
          </a:xfrm>
          <a:prstGeom prst="rect">
            <a:avLst/>
          </a:prstGeom>
          <a:noFill/>
        </p:spPr>
        <p:txBody>
          <a:bodyPr wrap="square">
            <a:spAutoFit/>
          </a:bodyPr>
          <a:lstStyle/>
          <a:p>
            <a:pPr algn="ctr">
              <a:defRPr sz="1400" b="1">
                <a:solidFill>
                  <a:srgbClr val="EDD88B"/>
                </a:solidFill>
                <a:latin typeface="Segoe UI" panose="020B0502040204020203"/>
              </a:defRPr>
            </a:pPr>
            <a:r>
              <a:t>ROLE</a:t>
            </a:r>
            <a:br/>
            <a:r>
              <a:t>CHECK</a:t>
            </a:r>
          </a:p>
        </p:txBody>
      </p:sp>
      <p:sp>
        <p:nvSpPr>
          <p:cNvPr id="10" name="TextBox 9"/>
          <p:cNvSpPr txBox="1"/>
          <p:nvPr/>
        </p:nvSpPr>
        <p:spPr>
          <a:xfrm>
            <a:off x="3108960" y="2103120"/>
            <a:ext cx="1737360" cy="914400"/>
          </a:xfrm>
          <a:prstGeom prst="rect">
            <a:avLst/>
          </a:prstGeom>
          <a:noFill/>
        </p:spPr>
        <p:txBody>
          <a:bodyPr wrap="square">
            <a:spAutoFit/>
          </a:bodyPr>
          <a:lstStyle/>
          <a:p>
            <a:pPr algn="ctr">
              <a:defRPr sz="1100" b="0">
                <a:solidFill>
                  <a:srgbClr val="CBD5E0"/>
                </a:solidFill>
                <a:latin typeface="Segoe UI" panose="020B0502040204020203"/>
              </a:defRPr>
            </a:pPr>
            <a:r>
              <a:t>Admin → Full</a:t>
            </a:r>
            <a:br/>
            <a:r>
              <a:t>User → View Only</a:t>
            </a:r>
          </a:p>
        </p:txBody>
      </p:sp>
      <p:sp>
        <p:nvSpPr>
          <p:cNvPr id="11" name="Rounded Rectangle 10"/>
          <p:cNvSpPr/>
          <p:nvPr/>
        </p:nvSpPr>
        <p:spPr>
          <a:xfrm>
            <a:off x="5303520" y="1371600"/>
            <a:ext cx="1920240" cy="1828800"/>
          </a:xfrm>
          <a:prstGeom prst="roundRect">
            <a:avLst/>
          </a:prstGeom>
          <a:solidFill>
            <a:srgbClr val="162A45"/>
          </a:solidFill>
          <a:ln w="19050">
            <a:solidFill>
              <a:srgbClr val="68D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1463040"/>
            <a:ext cx="1737360" cy="640080"/>
          </a:xfrm>
          <a:prstGeom prst="rect">
            <a:avLst/>
          </a:prstGeom>
          <a:noFill/>
        </p:spPr>
        <p:txBody>
          <a:bodyPr wrap="square">
            <a:spAutoFit/>
          </a:bodyPr>
          <a:lstStyle/>
          <a:p>
            <a:pPr algn="ctr">
              <a:defRPr sz="1400" b="1">
                <a:solidFill>
                  <a:srgbClr val="68D391"/>
                </a:solidFill>
                <a:latin typeface="Segoe UI" panose="020B0502040204020203"/>
              </a:defRPr>
            </a:pPr>
            <a:r>
              <a:t>ADMIN</a:t>
            </a:r>
            <a:br/>
            <a:r>
              <a:t>MENU</a:t>
            </a:r>
          </a:p>
        </p:txBody>
      </p:sp>
      <p:sp>
        <p:nvSpPr>
          <p:cNvPr id="13" name="TextBox 12"/>
          <p:cNvSpPr txBox="1"/>
          <p:nvPr/>
        </p:nvSpPr>
        <p:spPr>
          <a:xfrm>
            <a:off x="5394960" y="2103120"/>
            <a:ext cx="1737360" cy="914400"/>
          </a:xfrm>
          <a:prstGeom prst="rect">
            <a:avLst/>
          </a:prstGeom>
          <a:noFill/>
        </p:spPr>
        <p:txBody>
          <a:bodyPr wrap="square">
            <a:spAutoFit/>
          </a:bodyPr>
          <a:lstStyle/>
          <a:p>
            <a:pPr algn="ctr">
              <a:defRPr sz="1100" b="0">
                <a:solidFill>
                  <a:srgbClr val="CBD5E0"/>
                </a:solidFill>
                <a:latin typeface="Segoe UI" panose="020B0502040204020203"/>
              </a:defRPr>
            </a:pPr>
            <a:r>
              <a:t>CO1–CO6</a:t>
            </a:r>
            <a:br/>
            <a:r>
              <a:t>Sub-menus</a:t>
            </a:r>
          </a:p>
        </p:txBody>
      </p:sp>
      <p:sp>
        <p:nvSpPr>
          <p:cNvPr id="14" name="Rounded Rectangle 13"/>
          <p:cNvSpPr/>
          <p:nvPr/>
        </p:nvSpPr>
        <p:spPr>
          <a:xfrm>
            <a:off x="7589520" y="1371600"/>
            <a:ext cx="1920240" cy="1828800"/>
          </a:xfrm>
          <a:prstGeom prst="roundRect">
            <a:avLst/>
          </a:prstGeom>
          <a:solidFill>
            <a:srgbClr val="162A45"/>
          </a:solidFill>
          <a:ln w="19050">
            <a:solidFill>
              <a:srgbClr val="B79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1463040"/>
            <a:ext cx="1737360" cy="640080"/>
          </a:xfrm>
          <a:prstGeom prst="rect">
            <a:avLst/>
          </a:prstGeom>
          <a:noFill/>
        </p:spPr>
        <p:txBody>
          <a:bodyPr wrap="square">
            <a:spAutoFit/>
          </a:bodyPr>
          <a:lstStyle/>
          <a:p>
            <a:pPr algn="ctr">
              <a:defRPr sz="1400" b="1">
                <a:solidFill>
                  <a:srgbClr val="B794F6"/>
                </a:solidFill>
                <a:latin typeface="Segoe UI" panose="020B0502040204020203"/>
              </a:defRPr>
            </a:pPr>
            <a:r>
              <a:t>CO MODULE</a:t>
            </a:r>
          </a:p>
        </p:txBody>
      </p:sp>
      <p:sp>
        <p:nvSpPr>
          <p:cNvPr id="16" name="TextBox 15"/>
          <p:cNvSpPr txBox="1"/>
          <p:nvPr/>
        </p:nvSpPr>
        <p:spPr>
          <a:xfrm>
            <a:off x="7680960" y="2103120"/>
            <a:ext cx="1737360" cy="914400"/>
          </a:xfrm>
          <a:prstGeom prst="rect">
            <a:avLst/>
          </a:prstGeom>
          <a:noFill/>
        </p:spPr>
        <p:txBody>
          <a:bodyPr wrap="square">
            <a:spAutoFit/>
          </a:bodyPr>
          <a:lstStyle/>
          <a:p>
            <a:pPr algn="ctr">
              <a:defRPr sz="1100" b="0">
                <a:solidFill>
                  <a:srgbClr val="CBD5E0"/>
                </a:solidFill>
                <a:latin typeface="Segoe UI" panose="020B0502040204020203"/>
              </a:defRPr>
            </a:pPr>
            <a:r>
              <a:t>DSA Operations</a:t>
            </a:r>
            <a:br/>
            <a:r>
              <a:t>&amp; Queries</a:t>
            </a:r>
          </a:p>
        </p:txBody>
      </p:sp>
      <p:sp>
        <p:nvSpPr>
          <p:cNvPr id="17" name="Rounded Rectangle 16"/>
          <p:cNvSpPr/>
          <p:nvPr/>
        </p:nvSpPr>
        <p:spPr>
          <a:xfrm>
            <a:off x="9875520" y="1371600"/>
            <a:ext cx="1920240" cy="1828800"/>
          </a:xfrm>
          <a:prstGeom prst="roundRect">
            <a:avLst/>
          </a:prstGeom>
          <a:solidFill>
            <a:srgbClr val="162A45"/>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0" y="1463040"/>
            <a:ext cx="1737360" cy="640080"/>
          </a:xfrm>
          <a:prstGeom prst="rect">
            <a:avLst/>
          </a:prstGeom>
          <a:noFill/>
        </p:spPr>
        <p:txBody>
          <a:bodyPr wrap="square">
            <a:spAutoFit/>
          </a:bodyPr>
          <a:lstStyle/>
          <a:p>
            <a:pPr algn="ctr">
              <a:defRPr sz="1400" b="1">
                <a:solidFill>
                  <a:srgbClr val="F6AD55"/>
                </a:solidFill>
                <a:latin typeface="Segoe UI" panose="020B0502040204020203"/>
              </a:defRPr>
            </a:pPr>
            <a:r>
              <a:t>SHARED</a:t>
            </a:r>
            <a:br/>
            <a:r>
              <a:t>DATA</a:t>
            </a:r>
          </a:p>
        </p:txBody>
      </p:sp>
      <p:sp>
        <p:nvSpPr>
          <p:cNvPr id="19" name="TextBox 18"/>
          <p:cNvSpPr txBox="1"/>
          <p:nvPr/>
        </p:nvSpPr>
        <p:spPr>
          <a:xfrm>
            <a:off x="9966960" y="2103120"/>
            <a:ext cx="1737360" cy="914400"/>
          </a:xfrm>
          <a:prstGeom prst="rect">
            <a:avLst/>
          </a:prstGeom>
          <a:noFill/>
        </p:spPr>
        <p:txBody>
          <a:bodyPr wrap="square">
            <a:spAutoFit/>
          </a:bodyPr>
          <a:lstStyle/>
          <a:p>
            <a:pPr algn="ctr">
              <a:defRPr sz="1100" b="0">
                <a:solidFill>
                  <a:srgbClr val="CBD5E0"/>
                </a:solidFill>
                <a:latin typeface="Segoe UI" panose="020B0502040204020203"/>
              </a:defRPr>
            </a:pPr>
            <a:r>
              <a:t>documents, BST,</a:t>
            </a:r>
            <a:br/>
            <a:r>
              <a:t>AVL, Graph, Costs</a:t>
            </a:r>
          </a:p>
        </p:txBody>
      </p:sp>
      <p:sp>
        <p:nvSpPr>
          <p:cNvPr id="20" name="Right Arrow 19"/>
          <p:cNvSpPr/>
          <p:nvPr/>
        </p:nvSpPr>
        <p:spPr>
          <a:xfrm>
            <a:off x="2651760" y="2011680"/>
            <a:ext cx="365760" cy="365760"/>
          </a:xfrm>
          <a:prstGeom prst="rightArrow">
            <a:avLst/>
          </a:prstGeom>
          <a:solidFill>
            <a:srgbClr val="A0A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4937760" y="2011680"/>
            <a:ext cx="365760" cy="365760"/>
          </a:xfrm>
          <a:prstGeom prst="rightArrow">
            <a:avLst/>
          </a:prstGeom>
          <a:solidFill>
            <a:srgbClr val="A0A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7223760" y="2011680"/>
            <a:ext cx="365760" cy="365760"/>
          </a:xfrm>
          <a:prstGeom prst="rightArrow">
            <a:avLst/>
          </a:prstGeom>
          <a:solidFill>
            <a:srgbClr val="A0A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9509760" y="2011680"/>
            <a:ext cx="365760" cy="365760"/>
          </a:xfrm>
          <a:prstGeom prst="rightArrow">
            <a:avLst/>
          </a:prstGeom>
          <a:solidFill>
            <a:srgbClr val="A0A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29590" y="3414395"/>
            <a:ext cx="11155680" cy="3429635"/>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474719"/>
            <a:ext cx="4572000" cy="457200"/>
          </a:xfrm>
          <a:prstGeom prst="rect">
            <a:avLst/>
          </a:prstGeom>
          <a:noFill/>
        </p:spPr>
        <p:txBody>
          <a:bodyPr wrap="square">
            <a:spAutoFit/>
          </a:bodyPr>
          <a:lstStyle/>
          <a:p>
            <a:pPr algn="l">
              <a:defRPr sz="2000" b="1">
                <a:solidFill>
                  <a:srgbClr val="81E6D9"/>
                </a:solidFill>
                <a:latin typeface="Segoe UI" panose="020B0502040204020203"/>
              </a:defRPr>
            </a:pPr>
            <a:r>
              <a:t>Shared Data Architecture</a:t>
            </a:r>
          </a:p>
        </p:txBody>
      </p:sp>
      <p:sp>
        <p:nvSpPr>
          <p:cNvPr id="26" name="TextBox 25"/>
          <p:cNvSpPr txBox="1"/>
          <p:nvPr/>
        </p:nvSpPr>
        <p:spPr>
          <a:xfrm>
            <a:off x="822960" y="3931920"/>
            <a:ext cx="5029200" cy="2194560"/>
          </a:xfrm>
          <a:prstGeom prst="rect">
            <a:avLst/>
          </a:prstGeom>
          <a:noFill/>
        </p:spPr>
        <p:txBody>
          <a:bodyPr wrap="square">
            <a:spAutoFit/>
          </a:bodyPr>
          <a:lstStyle/>
          <a:p>
            <a:pPr>
              <a:spcAft>
                <a:spcPts val="600"/>
              </a:spcAft>
              <a:defRPr sz="1200">
                <a:solidFill>
                  <a:srgbClr val="CBD5E0"/>
                </a:solidFill>
                <a:latin typeface="Segoe UI" panose="020B0502040204020203"/>
              </a:defRPr>
            </a:pPr>
            <a:r>
              <a:t>addSharedDocument(doc):</a:t>
            </a:r>
          </a:p>
          <a:p>
            <a:pPr>
              <a:spcAft>
                <a:spcPts val="600"/>
              </a:spcAft>
              <a:defRPr sz="1200">
                <a:solidFill>
                  <a:srgbClr val="CBD5E0"/>
                </a:solidFill>
                <a:latin typeface="Segoe UI" panose="020B0502040204020203"/>
              </a:defRPr>
            </a:pPr>
            <a:r>
              <a:t>  1. Check duplicate ID → add to ArrayList</a:t>
            </a:r>
          </a:p>
          <a:p>
            <a:pPr>
              <a:spcAft>
                <a:spcPts val="600"/>
              </a:spcAft>
              <a:defRPr sz="1200">
                <a:solidFill>
                  <a:srgbClr val="CBD5E0"/>
                </a:solidFill>
                <a:latin typeface="Segoe UI" panose="020B0502040204020203"/>
              </a:defRPr>
            </a:pPr>
            <a:r>
              <a:t>  2. rebuildIndexes() → reconstruct BST + AVL</a:t>
            </a:r>
          </a:p>
          <a:p>
            <a:pPr>
              <a:spcAft>
                <a:spcPts val="600"/>
              </a:spcAft>
              <a:defRPr sz="1200">
                <a:solidFill>
                  <a:srgbClr val="CBD5E0"/>
                </a:solidFill>
                <a:latin typeface="Segoe UI" panose="020B0502040204020203"/>
              </a:defRPr>
            </a:pPr>
            <a:r>
              <a:t>  3. graph.resize() → expand adjacency list</a:t>
            </a:r>
          </a:p>
          <a:p>
            <a:pPr>
              <a:spcAft>
                <a:spcPts val="600"/>
              </a:spcAft>
              <a:defRPr sz="1200">
                <a:solidFill>
                  <a:srgbClr val="CBD5E0"/>
                </a:solidFill>
                <a:latin typeface="Segoe UI" panose="020B0502040204020203"/>
              </a:defRPr>
            </a:pPr>
            <a:r>
              <a:t>  4. resizeRouteCosts() → expand cost matrix</a:t>
            </a:r>
          </a:p>
          <a:p>
            <a:pPr>
              <a:spcAft>
                <a:spcPts val="600"/>
              </a:spcAft>
              <a:defRPr sz="1200">
                <a:solidFill>
                  <a:srgbClr val="CBD5E0"/>
                </a:solidFill>
                <a:latin typeface="Segoe UI" panose="020B0502040204020203"/>
              </a:defRPr>
            </a:pPr>
          </a:p>
          <a:p>
            <a:pPr>
              <a:spcAft>
                <a:spcPts val="600"/>
              </a:spcAft>
              <a:defRPr sz="1200">
                <a:solidFill>
                  <a:srgbClr val="CBD5E0"/>
                </a:solidFill>
                <a:latin typeface="Segoe UI" panose="020B0502040204020203"/>
              </a:defRPr>
            </a:pPr>
            <a:r>
              <a:t>deleteSharedDocument(id):</a:t>
            </a:r>
          </a:p>
          <a:p>
            <a:pPr>
              <a:spcAft>
                <a:spcPts val="600"/>
              </a:spcAft>
              <a:defRPr sz="1200">
                <a:solidFill>
                  <a:srgbClr val="CBD5E0"/>
                </a:solidFill>
                <a:latin typeface="Segoe UI" panose="020B0502040204020203"/>
              </a:defRPr>
            </a:pPr>
            <a:r>
              <a:t>  1. Find &amp; remove from ArrayList</a:t>
            </a:r>
          </a:p>
          <a:p>
            <a:pPr>
              <a:spcAft>
                <a:spcPts val="600"/>
              </a:spcAft>
              <a:defRPr sz="1200">
                <a:solidFill>
                  <a:srgbClr val="CBD5E0"/>
                </a:solidFill>
                <a:latin typeface="Segoe UI" panose="020B0502040204020203"/>
              </a:defRPr>
            </a:pPr>
            <a:r>
              <a:t>  2. rebuildIndexes() → reconstruct BST + AVL</a:t>
            </a:r>
          </a:p>
          <a:p>
            <a:pPr>
              <a:spcAft>
                <a:spcPts val="600"/>
              </a:spcAft>
              <a:defRPr sz="1200">
                <a:solidFill>
                  <a:srgbClr val="CBD5E0"/>
                </a:solidFill>
                <a:latin typeface="Segoe UI" panose="020B0502040204020203"/>
              </a:defRPr>
            </a:pPr>
            <a:r>
              <a:t>  3. graph.removeVertex() → remove &amp; re-index edges</a:t>
            </a:r>
          </a:p>
          <a:p>
            <a:pPr>
              <a:spcAft>
                <a:spcPts val="600"/>
              </a:spcAft>
              <a:defRPr sz="1200">
                <a:solidFill>
                  <a:srgbClr val="CBD5E0"/>
                </a:solidFill>
                <a:latin typeface="Segoe UI" panose="020B0502040204020203"/>
              </a:defRPr>
            </a:pPr>
            <a:r>
              <a:t>  4. removeRouteCost() → shrink cost matrix</a:t>
            </a:r>
          </a:p>
        </p:txBody>
      </p:sp>
      <p:sp>
        <p:nvSpPr>
          <p:cNvPr id="27" name="TextBox 26"/>
          <p:cNvSpPr txBox="1"/>
          <p:nvPr/>
        </p:nvSpPr>
        <p:spPr>
          <a:xfrm>
            <a:off x="6217920" y="4206240"/>
            <a:ext cx="5303520" cy="2194560"/>
          </a:xfrm>
          <a:prstGeom prst="rect">
            <a:avLst/>
          </a:prstGeom>
          <a:noFill/>
        </p:spPr>
        <p:txBody>
          <a:bodyPr wrap="square">
            <a:spAutoFit/>
          </a:bodyPr>
          <a:lstStyle/>
          <a:p>
            <a:pPr>
              <a:spcAft>
                <a:spcPts val="600"/>
              </a:spcAft>
              <a:defRPr sz="1200">
                <a:solidFill>
                  <a:srgbClr val="EDD88B"/>
                </a:solidFill>
                <a:latin typeface="Segoe UI" panose="020B0502040204020203"/>
              </a:defRPr>
            </a:pPr>
            <a:r>
              <a:t>Static Fields in Main.java (single source of truth):</a:t>
            </a:r>
          </a:p>
          <a:p>
            <a:pPr>
              <a:spcAft>
                <a:spcPts val="600"/>
              </a:spcAft>
              <a:defRPr sz="1200">
                <a:solidFill>
                  <a:srgbClr val="EDD88B"/>
                </a:solidFill>
                <a:latin typeface="Segoe UI" panose="020B0502040204020203"/>
              </a:defRPr>
            </a:pPr>
          </a:p>
          <a:p>
            <a:pPr>
              <a:spcAft>
                <a:spcPts val="600"/>
              </a:spcAft>
              <a:defRPr sz="1200">
                <a:solidFill>
                  <a:srgbClr val="EDD88B"/>
                </a:solidFill>
                <a:latin typeface="Segoe UI" panose="020B0502040204020203"/>
              </a:defRPr>
            </a:pPr>
            <a:r>
              <a:t>  documents : ArrayList&lt;Document&gt;  → master list</a:t>
            </a:r>
          </a:p>
          <a:p>
            <a:pPr>
              <a:spcAft>
                <a:spcPts val="600"/>
              </a:spcAft>
              <a:defRPr sz="1200">
                <a:solidFill>
                  <a:srgbClr val="EDD88B"/>
                </a:solidFill>
                <a:latin typeface="Segoe UI" panose="020B0502040204020203"/>
              </a:defRPr>
            </a:pPr>
            <a:r>
              <a:t>  bst : BST  → binary search tree index</a:t>
            </a:r>
          </a:p>
          <a:p>
            <a:pPr>
              <a:spcAft>
                <a:spcPts val="600"/>
              </a:spcAft>
              <a:defRPr sz="1200">
                <a:solidFill>
                  <a:srgbClr val="EDD88B"/>
                </a:solidFill>
                <a:latin typeface="Segoe UI" panose="020B0502040204020203"/>
              </a:defRPr>
            </a:pPr>
            <a:r>
              <a:t>  avl : AVLTree  → self-balancing tree index</a:t>
            </a:r>
          </a:p>
          <a:p>
            <a:pPr>
              <a:spcAft>
                <a:spcPts val="600"/>
              </a:spcAft>
              <a:defRPr sz="1200">
                <a:solidFill>
                  <a:srgbClr val="EDD88B"/>
                </a:solidFill>
                <a:latin typeface="Segoe UI" panose="020B0502040204020203"/>
              </a:defRPr>
            </a:pPr>
            <a:r>
              <a:t>  graph : Graph  → document relationship network</a:t>
            </a:r>
          </a:p>
          <a:p>
            <a:pPr>
              <a:spcAft>
                <a:spcPts val="600"/>
              </a:spcAft>
              <a:defRPr sz="1200">
                <a:solidFill>
                  <a:srgbClr val="EDD88B"/>
                </a:solidFill>
                <a:latin typeface="Segoe UI" panose="020B0502040204020203"/>
              </a:defRPr>
            </a:pPr>
            <a:r>
              <a:t>  routeCosts : int[][]  → weighted cost matrix</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3600" b="1">
                <a:solidFill>
                  <a:srgbClr val="FFFFFF"/>
                </a:solidFill>
                <a:latin typeface="Segoe UI" panose="020B0502040204020203"/>
              </a:defRPr>
            </a:pPr>
            <a:r>
              <a:t>Complexity Analysis</a:t>
            </a:r>
          </a:p>
        </p:txBody>
      </p:sp>
      <p:sp>
        <p:nvSpPr>
          <p:cNvPr id="4" name="Rectangle 3"/>
          <p:cNvSpPr/>
          <p:nvPr/>
        </p:nvSpPr>
        <p:spPr>
          <a:xfrm>
            <a:off x="731520" y="91440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1371600" y="1097280"/>
          <a:ext cx="9601200" cy="5760720"/>
        </p:xfrm>
        <a:graphic>
          <a:graphicData uri="http://schemas.openxmlformats.org/drawingml/2006/table">
            <a:tbl>
              <a:tblPr firstRow="1" bandRow="1">
                <a:tableStyleId>{5C22544A-7EE6-4342-B048-85BDC9FD1C3A}</a:tableStyleId>
              </a:tblPr>
              <a:tblGrid>
                <a:gridCol w="2743200"/>
                <a:gridCol w="2286000"/>
                <a:gridCol w="2286000"/>
                <a:gridCol w="2286000"/>
              </a:tblGrid>
              <a:tr h="384048">
                <a:tc>
                  <a:txBody>
                    <a:bodyPr/>
                    <a:lstStyle/>
                    <a:p>
                      <a:pPr algn="ctr">
                        <a:defRPr sz="1100" b="1">
                          <a:solidFill>
                            <a:srgbClr val="81E6D9"/>
                          </a:solidFill>
                          <a:latin typeface="Segoe UI" panose="020B0502040204020203"/>
                        </a:defRPr>
                      </a:pPr>
                      <a:r>
                        <a:t>Algorithm</a:t>
                      </a:r>
                    </a:p>
                  </a:txBody>
                  <a:tcPr anchor="ctr">
                    <a:solidFill>
                      <a:srgbClr val="1A365D"/>
                    </a:solidFill>
                  </a:tcPr>
                </a:tc>
                <a:tc>
                  <a:txBody>
                    <a:bodyPr/>
                    <a:lstStyle/>
                    <a:p>
                      <a:pPr algn="ctr">
                        <a:defRPr sz="1100" b="1">
                          <a:solidFill>
                            <a:srgbClr val="81E6D9"/>
                          </a:solidFill>
                          <a:latin typeface="Segoe UI" panose="020B0502040204020203"/>
                        </a:defRPr>
                      </a:pPr>
                      <a:r>
                        <a:t>Avg Time</a:t>
                      </a:r>
                    </a:p>
                  </a:txBody>
                  <a:tcPr anchor="ctr">
                    <a:solidFill>
                      <a:srgbClr val="1A365D"/>
                    </a:solidFill>
                  </a:tcPr>
                </a:tc>
                <a:tc>
                  <a:txBody>
                    <a:bodyPr/>
                    <a:lstStyle/>
                    <a:p>
                      <a:pPr algn="ctr">
                        <a:defRPr sz="1100" b="1">
                          <a:solidFill>
                            <a:srgbClr val="81E6D9"/>
                          </a:solidFill>
                          <a:latin typeface="Segoe UI" panose="020B0502040204020203"/>
                        </a:defRPr>
                      </a:pPr>
                      <a:r>
                        <a:t>Worst Time</a:t>
                      </a:r>
                    </a:p>
                  </a:txBody>
                  <a:tcPr anchor="ctr">
                    <a:solidFill>
                      <a:srgbClr val="1A365D"/>
                    </a:solidFill>
                  </a:tcPr>
                </a:tc>
                <a:tc>
                  <a:txBody>
                    <a:bodyPr/>
                    <a:lstStyle/>
                    <a:p>
                      <a:pPr algn="ctr">
                        <a:defRPr sz="1100" b="1">
                          <a:solidFill>
                            <a:srgbClr val="81E6D9"/>
                          </a:solidFill>
                          <a:latin typeface="Segoe UI" panose="020B0502040204020203"/>
                        </a:defRPr>
                      </a:pPr>
                      <a:r>
                        <a:t>Space</a:t>
                      </a:r>
                    </a:p>
                  </a:txBody>
                  <a:tcPr anchor="ctr">
                    <a:solidFill>
                      <a:srgbClr val="1A365D"/>
                    </a:solidFill>
                  </a:tcPr>
                </a:tc>
              </a:tr>
              <a:tr h="384048">
                <a:tc>
                  <a:txBody>
                    <a:bodyPr/>
                    <a:lstStyle/>
                    <a:p>
                      <a:pPr algn="ctr">
                        <a:defRPr sz="1100">
                          <a:solidFill>
                            <a:srgbClr val="CBD5E0"/>
                          </a:solidFill>
                          <a:latin typeface="Segoe UI" panose="020B0502040204020203"/>
                        </a:defRPr>
                      </a:pPr>
                      <a:r>
                        <a:t>BST Insert/Search</a:t>
                      </a:r>
                    </a:p>
                  </a:txBody>
                  <a:tcPr anchor="ctr">
                    <a:solidFill>
                      <a:srgbClr val="1E3A5F"/>
                    </a:solidFill>
                  </a:tcPr>
                </a:tc>
                <a:tc>
                  <a:txBody>
                    <a:bodyPr/>
                    <a:lstStyle/>
                    <a:p>
                      <a:pPr algn="ctr">
                        <a:defRPr sz="1100">
                          <a:solidFill>
                            <a:srgbClr val="CBD5E0"/>
                          </a:solidFill>
                          <a:latin typeface="Segoe UI" panose="020B0502040204020203"/>
                        </a:defRPr>
                      </a:pPr>
                      <a:r>
                        <a:t>O(log n)</a:t>
                      </a:r>
                    </a:p>
                  </a:txBody>
                  <a:tcPr anchor="ctr">
                    <a:solidFill>
                      <a:srgbClr val="1E3A5F"/>
                    </a:solidFill>
                  </a:tcPr>
                </a:tc>
                <a:tc>
                  <a:txBody>
                    <a:bodyPr/>
                    <a:lstStyle/>
                    <a:p>
                      <a:pPr algn="ctr">
                        <a:defRPr sz="1100">
                          <a:solidFill>
                            <a:srgbClr val="CBD5E0"/>
                          </a:solidFill>
                          <a:latin typeface="Segoe UI" panose="020B0502040204020203"/>
                        </a:defRPr>
                      </a:pPr>
                      <a:r>
                        <a:t>O(n)</a:t>
                      </a:r>
                    </a:p>
                  </a:txBody>
                  <a:tcPr anchor="ctr">
                    <a:solidFill>
                      <a:srgbClr val="1E3A5F"/>
                    </a:solidFill>
                  </a:tcPr>
                </a:tc>
                <a:tc>
                  <a:txBody>
                    <a:bodyPr/>
                    <a:lstStyle/>
                    <a:p>
                      <a:pPr algn="ctr">
                        <a:defRPr sz="1100">
                          <a:solidFill>
                            <a:srgbClr val="CBD5E0"/>
                          </a:solidFill>
                          <a:latin typeface="Segoe UI" panose="020B0502040204020203"/>
                        </a:defRPr>
                      </a:pPr>
                      <a:r>
                        <a:t>O(n)</a:t>
                      </a:r>
                    </a:p>
                  </a:txBody>
                  <a:tcPr anchor="ctr">
                    <a:solidFill>
                      <a:srgbClr val="1E3A5F"/>
                    </a:solidFill>
                  </a:tcPr>
                </a:tc>
              </a:tr>
              <a:tr h="384048">
                <a:tc>
                  <a:txBody>
                    <a:bodyPr/>
                    <a:lstStyle/>
                    <a:p>
                      <a:pPr algn="ctr">
                        <a:defRPr sz="1100">
                          <a:solidFill>
                            <a:srgbClr val="CBD5E0"/>
                          </a:solidFill>
                          <a:latin typeface="Segoe UI" panose="020B0502040204020203"/>
                        </a:defRPr>
                      </a:pPr>
                      <a:r>
                        <a:t>AVL Insert/Search</a:t>
                      </a:r>
                    </a:p>
                  </a:txBody>
                  <a:tcPr anchor="ctr">
                    <a:solidFill>
                      <a:srgbClr val="162A45"/>
                    </a:solidFill>
                  </a:tcPr>
                </a:tc>
                <a:tc>
                  <a:txBody>
                    <a:bodyPr/>
                    <a:lstStyle/>
                    <a:p>
                      <a:pPr algn="ctr">
                        <a:defRPr sz="1100">
                          <a:solidFill>
                            <a:srgbClr val="CBD5E0"/>
                          </a:solidFill>
                          <a:latin typeface="Segoe UI" panose="020B0502040204020203"/>
                        </a:defRPr>
                      </a:pPr>
                      <a:r>
                        <a:t>O(log n)</a:t>
                      </a:r>
                    </a:p>
                  </a:txBody>
                  <a:tcPr anchor="ctr">
                    <a:solidFill>
                      <a:srgbClr val="162A45"/>
                    </a:solidFill>
                  </a:tcPr>
                </a:tc>
                <a:tc>
                  <a:txBody>
                    <a:bodyPr/>
                    <a:lstStyle/>
                    <a:p>
                      <a:pPr algn="ctr">
                        <a:defRPr sz="1100">
                          <a:solidFill>
                            <a:srgbClr val="CBD5E0"/>
                          </a:solidFill>
                          <a:latin typeface="Segoe UI" panose="020B0502040204020203"/>
                        </a:defRPr>
                      </a:pPr>
                      <a:r>
                        <a:t>O(log n)</a:t>
                      </a:r>
                    </a:p>
                  </a:txBody>
                  <a:tcPr anchor="ctr">
                    <a:solidFill>
                      <a:srgbClr val="162A45"/>
                    </a:solidFill>
                  </a:tcPr>
                </a:tc>
                <a:tc>
                  <a:txBody>
                    <a:bodyPr/>
                    <a:lstStyle/>
                    <a:p>
                      <a:pPr algn="ctr">
                        <a:defRPr sz="1100">
                          <a:solidFill>
                            <a:srgbClr val="CBD5E0"/>
                          </a:solidFill>
                          <a:latin typeface="Segoe UI" panose="020B0502040204020203"/>
                        </a:defRPr>
                      </a:pPr>
                      <a:r>
                        <a:t>O(n)</a:t>
                      </a:r>
                    </a:p>
                  </a:txBody>
                  <a:tcPr anchor="ctr">
                    <a:solidFill>
                      <a:srgbClr val="162A45"/>
                    </a:solidFill>
                  </a:tcPr>
                </a:tc>
              </a:tr>
              <a:tr h="384048">
                <a:tc>
                  <a:txBody>
                    <a:bodyPr/>
                    <a:lstStyle/>
                    <a:p>
                      <a:pPr algn="ctr">
                        <a:defRPr sz="1100">
                          <a:solidFill>
                            <a:srgbClr val="CBD5E0"/>
                          </a:solidFill>
                          <a:latin typeface="Segoe UI" panose="020B0502040204020203"/>
                        </a:defRPr>
                      </a:pPr>
                      <a:r>
                        <a:t>Fenwick Update/Query</a:t>
                      </a:r>
                    </a:p>
                  </a:txBody>
                  <a:tcPr anchor="ctr">
                    <a:solidFill>
                      <a:srgbClr val="1E3A5F"/>
                    </a:solidFill>
                  </a:tcPr>
                </a:tc>
                <a:tc>
                  <a:txBody>
                    <a:bodyPr/>
                    <a:lstStyle/>
                    <a:p>
                      <a:pPr algn="ctr">
                        <a:defRPr sz="1100">
                          <a:solidFill>
                            <a:srgbClr val="CBD5E0"/>
                          </a:solidFill>
                          <a:latin typeface="Segoe UI" panose="020B0502040204020203"/>
                        </a:defRPr>
                      </a:pPr>
                      <a:r>
                        <a:t>O(log n)</a:t>
                      </a:r>
                    </a:p>
                  </a:txBody>
                  <a:tcPr anchor="ctr">
                    <a:solidFill>
                      <a:srgbClr val="1E3A5F"/>
                    </a:solidFill>
                  </a:tcPr>
                </a:tc>
                <a:tc>
                  <a:txBody>
                    <a:bodyPr/>
                    <a:lstStyle/>
                    <a:p>
                      <a:pPr algn="ctr">
                        <a:defRPr sz="1100">
                          <a:solidFill>
                            <a:srgbClr val="CBD5E0"/>
                          </a:solidFill>
                          <a:latin typeface="Segoe UI" panose="020B0502040204020203"/>
                        </a:defRPr>
                      </a:pPr>
                      <a:r>
                        <a:t>O(log n)</a:t>
                      </a:r>
                    </a:p>
                  </a:txBody>
                  <a:tcPr anchor="ctr">
                    <a:solidFill>
                      <a:srgbClr val="1E3A5F"/>
                    </a:solidFill>
                  </a:tcPr>
                </a:tc>
                <a:tc>
                  <a:txBody>
                    <a:bodyPr/>
                    <a:lstStyle/>
                    <a:p>
                      <a:pPr algn="ctr">
                        <a:defRPr sz="1100">
                          <a:solidFill>
                            <a:srgbClr val="CBD5E0"/>
                          </a:solidFill>
                          <a:latin typeface="Segoe UI" panose="020B0502040204020203"/>
                        </a:defRPr>
                      </a:pPr>
                      <a:r>
                        <a:t>O(n)</a:t>
                      </a:r>
                    </a:p>
                  </a:txBody>
                  <a:tcPr anchor="ctr">
                    <a:solidFill>
                      <a:srgbClr val="1E3A5F"/>
                    </a:solidFill>
                  </a:tcPr>
                </a:tc>
              </a:tr>
              <a:tr h="384048">
                <a:tc>
                  <a:txBody>
                    <a:bodyPr/>
                    <a:lstStyle/>
                    <a:p>
                      <a:pPr algn="ctr">
                        <a:defRPr sz="1100">
                          <a:solidFill>
                            <a:srgbClr val="CBD5E0"/>
                          </a:solidFill>
                          <a:latin typeface="Segoe UI" panose="020B0502040204020203"/>
                        </a:defRPr>
                      </a:pPr>
                      <a:r>
                        <a:t>Segment Tree Query</a:t>
                      </a:r>
                    </a:p>
                  </a:txBody>
                  <a:tcPr anchor="ctr">
                    <a:solidFill>
                      <a:srgbClr val="162A45"/>
                    </a:solidFill>
                  </a:tcPr>
                </a:tc>
                <a:tc>
                  <a:txBody>
                    <a:bodyPr/>
                    <a:lstStyle/>
                    <a:p>
                      <a:pPr algn="ctr">
                        <a:defRPr sz="1100">
                          <a:solidFill>
                            <a:srgbClr val="CBD5E0"/>
                          </a:solidFill>
                          <a:latin typeface="Segoe UI" panose="020B0502040204020203"/>
                        </a:defRPr>
                      </a:pPr>
                      <a:r>
                        <a:t>O(log n)</a:t>
                      </a:r>
                    </a:p>
                  </a:txBody>
                  <a:tcPr anchor="ctr">
                    <a:solidFill>
                      <a:srgbClr val="162A45"/>
                    </a:solidFill>
                  </a:tcPr>
                </a:tc>
                <a:tc>
                  <a:txBody>
                    <a:bodyPr/>
                    <a:lstStyle/>
                    <a:p>
                      <a:pPr algn="ctr">
                        <a:defRPr sz="1100">
                          <a:solidFill>
                            <a:srgbClr val="CBD5E0"/>
                          </a:solidFill>
                          <a:latin typeface="Segoe UI" panose="020B0502040204020203"/>
                        </a:defRPr>
                      </a:pPr>
                      <a:r>
                        <a:t>O(log n)</a:t>
                      </a:r>
                    </a:p>
                  </a:txBody>
                  <a:tcPr anchor="ctr">
                    <a:solidFill>
                      <a:srgbClr val="162A45"/>
                    </a:solidFill>
                  </a:tcPr>
                </a:tc>
                <a:tc>
                  <a:txBody>
                    <a:bodyPr/>
                    <a:lstStyle/>
                    <a:p>
                      <a:pPr algn="ctr">
                        <a:defRPr sz="1100">
                          <a:solidFill>
                            <a:srgbClr val="CBD5E0"/>
                          </a:solidFill>
                          <a:latin typeface="Segoe UI" panose="020B0502040204020203"/>
                        </a:defRPr>
                      </a:pPr>
                      <a:r>
                        <a:t>O(4n)</a:t>
                      </a:r>
                    </a:p>
                  </a:txBody>
                  <a:tcPr anchor="ctr">
                    <a:solidFill>
                      <a:srgbClr val="162A45"/>
                    </a:solidFill>
                  </a:tcPr>
                </a:tc>
              </a:tr>
              <a:tr h="384048">
                <a:tc>
                  <a:txBody>
                    <a:bodyPr/>
                    <a:lstStyle/>
                    <a:p>
                      <a:pPr algn="ctr">
                        <a:defRPr sz="1100">
                          <a:solidFill>
                            <a:srgbClr val="CBD5E0"/>
                          </a:solidFill>
                          <a:latin typeface="Segoe UI" panose="020B0502040204020203"/>
                        </a:defRPr>
                      </a:pPr>
                      <a:r>
                        <a:t>BFS / DFS</a:t>
                      </a:r>
                    </a:p>
                  </a:txBody>
                  <a:tcPr anchor="ctr">
                    <a:solidFill>
                      <a:srgbClr val="1E3A5F"/>
                    </a:solidFill>
                  </a:tcPr>
                </a:tc>
                <a:tc>
                  <a:txBody>
                    <a:bodyPr/>
                    <a:lstStyle/>
                    <a:p>
                      <a:pPr algn="ctr">
                        <a:defRPr sz="1100">
                          <a:solidFill>
                            <a:srgbClr val="CBD5E0"/>
                          </a:solidFill>
                          <a:latin typeface="Segoe UI" panose="020B0502040204020203"/>
                        </a:defRPr>
                      </a:pPr>
                      <a:r>
                        <a:t>O(V + E)</a:t>
                      </a:r>
                    </a:p>
                  </a:txBody>
                  <a:tcPr anchor="ctr">
                    <a:solidFill>
                      <a:srgbClr val="1E3A5F"/>
                    </a:solidFill>
                  </a:tcPr>
                </a:tc>
                <a:tc>
                  <a:txBody>
                    <a:bodyPr/>
                    <a:lstStyle/>
                    <a:p>
                      <a:pPr algn="ctr">
                        <a:defRPr sz="1100">
                          <a:solidFill>
                            <a:srgbClr val="CBD5E0"/>
                          </a:solidFill>
                          <a:latin typeface="Segoe UI" panose="020B0502040204020203"/>
                        </a:defRPr>
                      </a:pPr>
                      <a:r>
                        <a:t>O(V + E)</a:t>
                      </a:r>
                    </a:p>
                  </a:txBody>
                  <a:tcPr anchor="ctr">
                    <a:solidFill>
                      <a:srgbClr val="1E3A5F"/>
                    </a:solidFill>
                  </a:tcPr>
                </a:tc>
                <a:tc>
                  <a:txBody>
                    <a:bodyPr/>
                    <a:lstStyle/>
                    <a:p>
                      <a:pPr algn="ctr">
                        <a:defRPr sz="1100">
                          <a:solidFill>
                            <a:srgbClr val="CBD5E0"/>
                          </a:solidFill>
                          <a:latin typeface="Segoe UI" panose="020B0502040204020203"/>
                        </a:defRPr>
                      </a:pPr>
                      <a:r>
                        <a:t>O(V)</a:t>
                      </a:r>
                    </a:p>
                  </a:txBody>
                  <a:tcPr anchor="ctr">
                    <a:solidFill>
                      <a:srgbClr val="1E3A5F"/>
                    </a:solidFill>
                  </a:tcPr>
                </a:tc>
              </a:tr>
              <a:tr h="384048">
                <a:tc>
                  <a:txBody>
                    <a:bodyPr/>
                    <a:lstStyle/>
                    <a:p>
                      <a:pPr algn="ctr">
                        <a:defRPr sz="1100">
                          <a:solidFill>
                            <a:srgbClr val="CBD5E0"/>
                          </a:solidFill>
                          <a:latin typeface="Segoe UI" panose="020B0502040204020203"/>
                        </a:defRPr>
                      </a:pPr>
                      <a:r>
                        <a:t>Dijkstra (matrix)</a:t>
                      </a:r>
                    </a:p>
                  </a:txBody>
                  <a:tcPr anchor="ctr">
                    <a:solidFill>
                      <a:srgbClr val="162A45"/>
                    </a:solidFill>
                  </a:tcPr>
                </a:tc>
                <a:tc>
                  <a:txBody>
                    <a:bodyPr/>
                    <a:lstStyle/>
                    <a:p>
                      <a:pPr algn="ctr">
                        <a:defRPr sz="1100">
                          <a:solidFill>
                            <a:srgbClr val="CBD5E0"/>
                          </a:solidFill>
                          <a:latin typeface="Segoe UI" panose="020B0502040204020203"/>
                        </a:defRPr>
                      </a:pPr>
                      <a:r>
                        <a:t>O(V²)</a:t>
                      </a:r>
                    </a:p>
                  </a:txBody>
                  <a:tcPr anchor="ctr">
                    <a:solidFill>
                      <a:srgbClr val="162A45"/>
                    </a:solidFill>
                  </a:tcPr>
                </a:tc>
                <a:tc>
                  <a:txBody>
                    <a:bodyPr/>
                    <a:lstStyle/>
                    <a:p>
                      <a:pPr algn="ctr">
                        <a:defRPr sz="1100">
                          <a:solidFill>
                            <a:srgbClr val="CBD5E0"/>
                          </a:solidFill>
                          <a:latin typeface="Segoe UI" panose="020B0502040204020203"/>
                        </a:defRPr>
                      </a:pPr>
                      <a:r>
                        <a:t>O(V²)</a:t>
                      </a:r>
                    </a:p>
                  </a:txBody>
                  <a:tcPr anchor="ctr">
                    <a:solidFill>
                      <a:srgbClr val="162A45"/>
                    </a:solidFill>
                  </a:tcPr>
                </a:tc>
                <a:tc>
                  <a:txBody>
                    <a:bodyPr/>
                    <a:lstStyle/>
                    <a:p>
                      <a:pPr algn="ctr">
                        <a:defRPr sz="1100">
                          <a:solidFill>
                            <a:srgbClr val="CBD5E0"/>
                          </a:solidFill>
                          <a:latin typeface="Segoe UI" panose="020B0502040204020203"/>
                        </a:defRPr>
                      </a:pPr>
                      <a:r>
                        <a:t>O(V)</a:t>
                      </a:r>
                    </a:p>
                  </a:txBody>
                  <a:tcPr anchor="ctr">
                    <a:solidFill>
                      <a:srgbClr val="162A45"/>
                    </a:solidFill>
                  </a:tcPr>
                </a:tc>
              </a:tr>
              <a:tr h="384048">
                <a:tc>
                  <a:txBody>
                    <a:bodyPr/>
                    <a:lstStyle/>
                    <a:p>
                      <a:pPr algn="ctr">
                        <a:defRPr sz="1100">
                          <a:solidFill>
                            <a:srgbClr val="CBD5E0"/>
                          </a:solidFill>
                          <a:latin typeface="Segoe UI" panose="020B0502040204020203"/>
                        </a:defRPr>
                      </a:pPr>
                      <a:r>
                        <a:t>Bellman-Ford</a:t>
                      </a:r>
                    </a:p>
                  </a:txBody>
                  <a:tcPr anchor="ctr">
                    <a:solidFill>
                      <a:srgbClr val="1E3A5F"/>
                    </a:solidFill>
                  </a:tcPr>
                </a:tc>
                <a:tc>
                  <a:txBody>
                    <a:bodyPr/>
                    <a:lstStyle/>
                    <a:p>
                      <a:pPr algn="ctr">
                        <a:defRPr sz="1100">
                          <a:solidFill>
                            <a:srgbClr val="CBD5E0"/>
                          </a:solidFill>
                          <a:latin typeface="Segoe UI" panose="020B0502040204020203"/>
                        </a:defRPr>
                      </a:pPr>
                      <a:r>
                        <a:t>O(V³)</a:t>
                      </a:r>
                    </a:p>
                  </a:txBody>
                  <a:tcPr anchor="ctr">
                    <a:solidFill>
                      <a:srgbClr val="1E3A5F"/>
                    </a:solidFill>
                  </a:tcPr>
                </a:tc>
                <a:tc>
                  <a:txBody>
                    <a:bodyPr/>
                    <a:lstStyle/>
                    <a:p>
                      <a:pPr algn="ctr">
                        <a:defRPr sz="1100">
                          <a:solidFill>
                            <a:srgbClr val="CBD5E0"/>
                          </a:solidFill>
                          <a:latin typeface="Segoe UI" panose="020B0502040204020203"/>
                        </a:defRPr>
                      </a:pPr>
                      <a:r>
                        <a:t>O(V³)</a:t>
                      </a:r>
                    </a:p>
                  </a:txBody>
                  <a:tcPr anchor="ctr">
                    <a:solidFill>
                      <a:srgbClr val="1E3A5F"/>
                    </a:solidFill>
                  </a:tcPr>
                </a:tc>
                <a:tc>
                  <a:txBody>
                    <a:bodyPr/>
                    <a:lstStyle/>
                    <a:p>
                      <a:pPr algn="ctr">
                        <a:defRPr sz="1100">
                          <a:solidFill>
                            <a:srgbClr val="CBD5E0"/>
                          </a:solidFill>
                          <a:latin typeface="Segoe UI" panose="020B0502040204020203"/>
                        </a:defRPr>
                      </a:pPr>
                      <a:r>
                        <a:t>O(V)</a:t>
                      </a:r>
                    </a:p>
                  </a:txBody>
                  <a:tcPr anchor="ctr">
                    <a:solidFill>
                      <a:srgbClr val="1E3A5F"/>
                    </a:solidFill>
                  </a:tcPr>
                </a:tc>
              </a:tr>
              <a:tr h="384048">
                <a:tc>
                  <a:txBody>
                    <a:bodyPr/>
                    <a:lstStyle/>
                    <a:p>
                      <a:pPr algn="ctr">
                        <a:defRPr sz="1100">
                          <a:solidFill>
                            <a:srgbClr val="CBD5E0"/>
                          </a:solidFill>
                          <a:latin typeface="Segoe UI" panose="020B0502040204020203"/>
                        </a:defRPr>
                      </a:pPr>
                      <a:r>
                        <a:t>Floyd-Warshall</a:t>
                      </a:r>
                    </a:p>
                  </a:txBody>
                  <a:tcPr anchor="ctr">
                    <a:solidFill>
                      <a:srgbClr val="162A45"/>
                    </a:solidFill>
                  </a:tcPr>
                </a:tc>
                <a:tc>
                  <a:txBody>
                    <a:bodyPr/>
                    <a:lstStyle/>
                    <a:p>
                      <a:pPr algn="ctr">
                        <a:defRPr sz="1100">
                          <a:solidFill>
                            <a:srgbClr val="CBD5E0"/>
                          </a:solidFill>
                          <a:latin typeface="Segoe UI" panose="020B0502040204020203"/>
                        </a:defRPr>
                      </a:pPr>
                      <a:r>
                        <a:t>O(V³)</a:t>
                      </a:r>
                    </a:p>
                  </a:txBody>
                  <a:tcPr anchor="ctr">
                    <a:solidFill>
                      <a:srgbClr val="162A45"/>
                    </a:solidFill>
                  </a:tcPr>
                </a:tc>
                <a:tc>
                  <a:txBody>
                    <a:bodyPr/>
                    <a:lstStyle/>
                    <a:p>
                      <a:pPr algn="ctr">
                        <a:defRPr sz="1100">
                          <a:solidFill>
                            <a:srgbClr val="CBD5E0"/>
                          </a:solidFill>
                          <a:latin typeface="Segoe UI" panose="020B0502040204020203"/>
                        </a:defRPr>
                      </a:pPr>
                      <a:r>
                        <a:t>O(V³)</a:t>
                      </a:r>
                    </a:p>
                  </a:txBody>
                  <a:tcPr anchor="ctr">
                    <a:solidFill>
                      <a:srgbClr val="162A45"/>
                    </a:solidFill>
                  </a:tcPr>
                </a:tc>
                <a:tc>
                  <a:txBody>
                    <a:bodyPr/>
                    <a:lstStyle/>
                    <a:p>
                      <a:pPr algn="ctr">
                        <a:defRPr sz="1100">
                          <a:solidFill>
                            <a:srgbClr val="CBD5E0"/>
                          </a:solidFill>
                          <a:latin typeface="Segoe UI" panose="020B0502040204020203"/>
                        </a:defRPr>
                      </a:pPr>
                      <a:r>
                        <a:t>O(V²)</a:t>
                      </a:r>
                    </a:p>
                  </a:txBody>
                  <a:tcPr anchor="ctr">
                    <a:solidFill>
                      <a:srgbClr val="162A45"/>
                    </a:solidFill>
                  </a:tcPr>
                </a:tc>
              </a:tr>
              <a:tr h="384048">
                <a:tc>
                  <a:txBody>
                    <a:bodyPr/>
                    <a:lstStyle/>
                    <a:p>
                      <a:pPr algn="ctr">
                        <a:defRPr sz="1100">
                          <a:solidFill>
                            <a:srgbClr val="CBD5E0"/>
                          </a:solidFill>
                          <a:latin typeface="Segoe UI" panose="020B0502040204020203"/>
                        </a:defRPr>
                      </a:pPr>
                      <a:r>
                        <a:t>Merge Sort</a:t>
                      </a:r>
                    </a:p>
                  </a:txBody>
                  <a:tcPr anchor="ctr">
                    <a:solidFill>
                      <a:srgbClr val="1E3A5F"/>
                    </a:solidFill>
                  </a:tcPr>
                </a:tc>
                <a:tc>
                  <a:txBody>
                    <a:bodyPr/>
                    <a:lstStyle/>
                    <a:p>
                      <a:pPr algn="ctr">
                        <a:defRPr sz="1100">
                          <a:solidFill>
                            <a:srgbClr val="CBD5E0"/>
                          </a:solidFill>
                          <a:latin typeface="Segoe UI" panose="020B0502040204020203"/>
                        </a:defRPr>
                      </a:pPr>
                      <a:r>
                        <a:t>O(n log n)</a:t>
                      </a:r>
                    </a:p>
                  </a:txBody>
                  <a:tcPr anchor="ctr">
                    <a:solidFill>
                      <a:srgbClr val="1E3A5F"/>
                    </a:solidFill>
                  </a:tcPr>
                </a:tc>
                <a:tc>
                  <a:txBody>
                    <a:bodyPr/>
                    <a:lstStyle/>
                    <a:p>
                      <a:pPr algn="ctr">
                        <a:defRPr sz="1100">
                          <a:solidFill>
                            <a:srgbClr val="CBD5E0"/>
                          </a:solidFill>
                          <a:latin typeface="Segoe UI" panose="020B0502040204020203"/>
                        </a:defRPr>
                      </a:pPr>
                      <a:r>
                        <a:t>O(n log n)</a:t>
                      </a:r>
                    </a:p>
                  </a:txBody>
                  <a:tcPr anchor="ctr">
                    <a:solidFill>
                      <a:srgbClr val="1E3A5F"/>
                    </a:solidFill>
                  </a:tcPr>
                </a:tc>
                <a:tc>
                  <a:txBody>
                    <a:bodyPr/>
                    <a:lstStyle/>
                    <a:p>
                      <a:pPr algn="ctr">
                        <a:defRPr sz="1100">
                          <a:solidFill>
                            <a:srgbClr val="CBD5E0"/>
                          </a:solidFill>
                          <a:latin typeface="Segoe UI" panose="020B0502040204020203"/>
                        </a:defRPr>
                      </a:pPr>
                      <a:r>
                        <a:t>O(n)</a:t>
                      </a:r>
                    </a:p>
                  </a:txBody>
                  <a:tcPr anchor="ctr">
                    <a:solidFill>
                      <a:srgbClr val="1E3A5F"/>
                    </a:solidFill>
                  </a:tcPr>
                </a:tc>
              </a:tr>
              <a:tr h="384048">
                <a:tc>
                  <a:txBody>
                    <a:bodyPr/>
                    <a:lstStyle/>
                    <a:p>
                      <a:pPr algn="ctr">
                        <a:defRPr sz="1100">
                          <a:solidFill>
                            <a:srgbClr val="CBD5E0"/>
                          </a:solidFill>
                          <a:latin typeface="Segoe UI" panose="020B0502040204020203"/>
                        </a:defRPr>
                      </a:pPr>
                      <a:r>
                        <a:t>Quick Sort</a:t>
                      </a:r>
                    </a:p>
                  </a:txBody>
                  <a:tcPr anchor="ctr">
                    <a:solidFill>
                      <a:srgbClr val="162A45"/>
                    </a:solidFill>
                  </a:tcPr>
                </a:tc>
                <a:tc>
                  <a:txBody>
                    <a:bodyPr/>
                    <a:lstStyle/>
                    <a:p>
                      <a:pPr algn="ctr">
                        <a:defRPr sz="1100">
                          <a:solidFill>
                            <a:srgbClr val="CBD5E0"/>
                          </a:solidFill>
                          <a:latin typeface="Segoe UI" panose="020B0502040204020203"/>
                        </a:defRPr>
                      </a:pPr>
                      <a:r>
                        <a:t>O(n log n)</a:t>
                      </a:r>
                    </a:p>
                  </a:txBody>
                  <a:tcPr anchor="ctr">
                    <a:solidFill>
                      <a:srgbClr val="162A45"/>
                    </a:solidFill>
                  </a:tcPr>
                </a:tc>
                <a:tc>
                  <a:txBody>
                    <a:bodyPr/>
                    <a:lstStyle/>
                    <a:p>
                      <a:pPr algn="ctr">
                        <a:defRPr sz="1100">
                          <a:solidFill>
                            <a:srgbClr val="CBD5E0"/>
                          </a:solidFill>
                          <a:latin typeface="Segoe UI" panose="020B0502040204020203"/>
                        </a:defRPr>
                      </a:pPr>
                      <a:r>
                        <a:t>O(n²)</a:t>
                      </a:r>
                    </a:p>
                  </a:txBody>
                  <a:tcPr anchor="ctr">
                    <a:solidFill>
                      <a:srgbClr val="162A45"/>
                    </a:solidFill>
                  </a:tcPr>
                </a:tc>
                <a:tc>
                  <a:txBody>
                    <a:bodyPr/>
                    <a:lstStyle/>
                    <a:p>
                      <a:pPr algn="ctr">
                        <a:defRPr sz="1100">
                          <a:solidFill>
                            <a:srgbClr val="CBD5E0"/>
                          </a:solidFill>
                          <a:latin typeface="Segoe UI" panose="020B0502040204020203"/>
                        </a:defRPr>
                      </a:pPr>
                      <a:r>
                        <a:t>O(log n)</a:t>
                      </a:r>
                    </a:p>
                  </a:txBody>
                  <a:tcPr anchor="ctr">
                    <a:solidFill>
                      <a:srgbClr val="162A45"/>
                    </a:solidFill>
                  </a:tcPr>
                </a:tc>
              </a:tr>
              <a:tr h="384048">
                <a:tc>
                  <a:txBody>
                    <a:bodyPr/>
                    <a:lstStyle/>
                    <a:p>
                      <a:pPr algn="ctr">
                        <a:defRPr sz="1100">
                          <a:solidFill>
                            <a:srgbClr val="CBD5E0"/>
                          </a:solidFill>
                          <a:latin typeface="Segoe UI" panose="020B0502040204020203"/>
                        </a:defRPr>
                      </a:pPr>
                      <a:r>
                        <a:t>Heap Sort</a:t>
                      </a:r>
                    </a:p>
                  </a:txBody>
                  <a:tcPr anchor="ctr">
                    <a:solidFill>
                      <a:srgbClr val="1E3A5F"/>
                    </a:solidFill>
                  </a:tcPr>
                </a:tc>
                <a:tc>
                  <a:txBody>
                    <a:bodyPr/>
                    <a:lstStyle/>
                    <a:p>
                      <a:pPr algn="ctr">
                        <a:defRPr sz="1100">
                          <a:solidFill>
                            <a:srgbClr val="CBD5E0"/>
                          </a:solidFill>
                          <a:latin typeface="Segoe UI" panose="020B0502040204020203"/>
                        </a:defRPr>
                      </a:pPr>
                      <a:r>
                        <a:t>O(n log n)</a:t>
                      </a:r>
                    </a:p>
                  </a:txBody>
                  <a:tcPr anchor="ctr">
                    <a:solidFill>
                      <a:srgbClr val="1E3A5F"/>
                    </a:solidFill>
                  </a:tcPr>
                </a:tc>
                <a:tc>
                  <a:txBody>
                    <a:bodyPr/>
                    <a:lstStyle/>
                    <a:p>
                      <a:pPr algn="ctr">
                        <a:defRPr sz="1100">
                          <a:solidFill>
                            <a:srgbClr val="CBD5E0"/>
                          </a:solidFill>
                          <a:latin typeface="Segoe UI" panose="020B0502040204020203"/>
                        </a:defRPr>
                      </a:pPr>
                      <a:r>
                        <a:t>O(n log n)</a:t>
                      </a:r>
                    </a:p>
                  </a:txBody>
                  <a:tcPr anchor="ctr">
                    <a:solidFill>
                      <a:srgbClr val="1E3A5F"/>
                    </a:solidFill>
                  </a:tcPr>
                </a:tc>
                <a:tc>
                  <a:txBody>
                    <a:bodyPr/>
                    <a:lstStyle/>
                    <a:p>
                      <a:pPr algn="ctr">
                        <a:defRPr sz="1100">
                          <a:solidFill>
                            <a:srgbClr val="CBD5E0"/>
                          </a:solidFill>
                          <a:latin typeface="Segoe UI" panose="020B0502040204020203"/>
                        </a:defRPr>
                      </a:pPr>
                      <a:r>
                        <a:t>O(1)</a:t>
                      </a:r>
                    </a:p>
                  </a:txBody>
                  <a:tcPr anchor="ctr">
                    <a:solidFill>
                      <a:srgbClr val="1E3A5F"/>
                    </a:solidFill>
                  </a:tcPr>
                </a:tc>
              </a:tr>
              <a:tr h="384048">
                <a:tc>
                  <a:txBody>
                    <a:bodyPr/>
                    <a:lstStyle/>
                    <a:p>
                      <a:pPr algn="ctr">
                        <a:defRPr sz="1100">
                          <a:solidFill>
                            <a:srgbClr val="CBD5E0"/>
                          </a:solidFill>
                          <a:latin typeface="Segoe UI" panose="020B0502040204020203"/>
                        </a:defRPr>
                      </a:pPr>
                      <a:r>
                        <a:t>Radix Sort</a:t>
                      </a:r>
                    </a:p>
                  </a:txBody>
                  <a:tcPr anchor="ctr">
                    <a:solidFill>
                      <a:srgbClr val="162A45"/>
                    </a:solidFill>
                  </a:tcPr>
                </a:tc>
                <a:tc>
                  <a:txBody>
                    <a:bodyPr/>
                    <a:lstStyle/>
                    <a:p>
                      <a:pPr algn="ctr">
                        <a:defRPr sz="1100">
                          <a:solidFill>
                            <a:srgbClr val="CBD5E0"/>
                          </a:solidFill>
                          <a:latin typeface="Segoe UI" panose="020B0502040204020203"/>
                        </a:defRPr>
                      </a:pPr>
                      <a:r>
                        <a:t>O(d × n)</a:t>
                      </a:r>
                    </a:p>
                  </a:txBody>
                  <a:tcPr anchor="ctr">
                    <a:solidFill>
                      <a:srgbClr val="162A45"/>
                    </a:solidFill>
                  </a:tcPr>
                </a:tc>
                <a:tc>
                  <a:txBody>
                    <a:bodyPr/>
                    <a:lstStyle/>
                    <a:p>
                      <a:pPr algn="ctr">
                        <a:defRPr sz="1100">
                          <a:solidFill>
                            <a:srgbClr val="CBD5E0"/>
                          </a:solidFill>
                          <a:latin typeface="Segoe UI" panose="020B0502040204020203"/>
                        </a:defRPr>
                      </a:pPr>
                      <a:r>
                        <a:t>O(d × n)</a:t>
                      </a:r>
                    </a:p>
                  </a:txBody>
                  <a:tcPr anchor="ctr">
                    <a:solidFill>
                      <a:srgbClr val="162A45"/>
                    </a:solidFill>
                  </a:tcPr>
                </a:tc>
                <a:tc>
                  <a:txBody>
                    <a:bodyPr/>
                    <a:lstStyle/>
                    <a:p>
                      <a:pPr algn="ctr">
                        <a:defRPr sz="1100">
                          <a:solidFill>
                            <a:srgbClr val="CBD5E0"/>
                          </a:solidFill>
                          <a:latin typeface="Segoe UI" panose="020B0502040204020203"/>
                        </a:defRPr>
                      </a:pPr>
                      <a:r>
                        <a:t>O(n)</a:t>
                      </a:r>
                    </a:p>
                  </a:txBody>
                  <a:tcPr anchor="ctr">
                    <a:solidFill>
                      <a:srgbClr val="162A45"/>
                    </a:solidFill>
                  </a:tcPr>
                </a:tc>
              </a:tr>
              <a:tr h="384048">
                <a:tc>
                  <a:txBody>
                    <a:bodyPr/>
                    <a:lstStyle/>
                    <a:p>
                      <a:pPr algn="ctr">
                        <a:defRPr sz="1100">
                          <a:solidFill>
                            <a:srgbClr val="CBD5E0"/>
                          </a:solidFill>
                          <a:latin typeface="Segoe UI" panose="020B0502040204020203"/>
                        </a:defRPr>
                      </a:pPr>
                      <a:r>
                        <a:t>0/1 Knapsack</a:t>
                      </a:r>
                    </a:p>
                  </a:txBody>
                  <a:tcPr anchor="ctr">
                    <a:solidFill>
                      <a:srgbClr val="1E3A5F"/>
                    </a:solidFill>
                  </a:tcPr>
                </a:tc>
                <a:tc>
                  <a:txBody>
                    <a:bodyPr/>
                    <a:lstStyle/>
                    <a:p>
                      <a:pPr algn="ctr">
                        <a:defRPr sz="1100">
                          <a:solidFill>
                            <a:srgbClr val="CBD5E0"/>
                          </a:solidFill>
                          <a:latin typeface="Segoe UI" panose="020B0502040204020203"/>
                        </a:defRPr>
                      </a:pPr>
                      <a:r>
                        <a:t>O(n × W)</a:t>
                      </a:r>
                    </a:p>
                  </a:txBody>
                  <a:tcPr anchor="ctr">
                    <a:solidFill>
                      <a:srgbClr val="1E3A5F"/>
                    </a:solidFill>
                  </a:tcPr>
                </a:tc>
                <a:tc>
                  <a:txBody>
                    <a:bodyPr/>
                    <a:lstStyle/>
                    <a:p>
                      <a:pPr algn="ctr">
                        <a:defRPr sz="1100">
                          <a:solidFill>
                            <a:srgbClr val="CBD5E0"/>
                          </a:solidFill>
                          <a:latin typeface="Segoe UI" panose="020B0502040204020203"/>
                        </a:defRPr>
                      </a:pPr>
                      <a:r>
                        <a:t>O(n × W)</a:t>
                      </a:r>
                    </a:p>
                  </a:txBody>
                  <a:tcPr anchor="ctr">
                    <a:solidFill>
                      <a:srgbClr val="1E3A5F"/>
                    </a:solidFill>
                  </a:tcPr>
                </a:tc>
                <a:tc>
                  <a:txBody>
                    <a:bodyPr/>
                    <a:lstStyle/>
                    <a:p>
                      <a:pPr algn="ctr">
                        <a:defRPr sz="1100">
                          <a:solidFill>
                            <a:srgbClr val="CBD5E0"/>
                          </a:solidFill>
                          <a:latin typeface="Segoe UI" panose="020B0502040204020203"/>
                        </a:defRPr>
                      </a:pPr>
                      <a:r>
                        <a:t>O(n×W)</a:t>
                      </a:r>
                    </a:p>
                  </a:txBody>
                  <a:tcPr anchor="ctr">
                    <a:solidFill>
                      <a:srgbClr val="1E3A5F"/>
                    </a:solidFill>
                  </a:tcPr>
                </a:tc>
              </a:tr>
              <a:tr h="384048">
                <a:tc>
                  <a:txBody>
                    <a:bodyPr/>
                    <a:lstStyle/>
                    <a:p>
                      <a:pPr algn="ctr">
                        <a:defRPr sz="1100">
                          <a:solidFill>
                            <a:srgbClr val="CBD5E0"/>
                          </a:solidFill>
                          <a:latin typeface="Segoe UI" panose="020B0502040204020203"/>
                        </a:defRPr>
                      </a:pPr>
                      <a:r>
                        <a:t>LIS</a:t>
                      </a:r>
                    </a:p>
                  </a:txBody>
                  <a:tcPr anchor="ctr">
                    <a:solidFill>
                      <a:srgbClr val="162A45"/>
                    </a:solidFill>
                  </a:tcPr>
                </a:tc>
                <a:tc>
                  <a:txBody>
                    <a:bodyPr/>
                    <a:lstStyle/>
                    <a:p>
                      <a:pPr algn="ctr">
                        <a:defRPr sz="1100">
                          <a:solidFill>
                            <a:srgbClr val="CBD5E0"/>
                          </a:solidFill>
                          <a:latin typeface="Segoe UI" panose="020B0502040204020203"/>
                        </a:defRPr>
                      </a:pPr>
                      <a:r>
                        <a:t>O(n²)</a:t>
                      </a:r>
                    </a:p>
                  </a:txBody>
                  <a:tcPr anchor="ctr">
                    <a:solidFill>
                      <a:srgbClr val="162A45"/>
                    </a:solidFill>
                  </a:tcPr>
                </a:tc>
                <a:tc>
                  <a:txBody>
                    <a:bodyPr/>
                    <a:lstStyle/>
                    <a:p>
                      <a:pPr algn="ctr">
                        <a:defRPr sz="1100">
                          <a:solidFill>
                            <a:srgbClr val="CBD5E0"/>
                          </a:solidFill>
                          <a:latin typeface="Segoe UI" panose="020B0502040204020203"/>
                        </a:defRPr>
                      </a:pPr>
                      <a:r>
                        <a:t>O(n²)</a:t>
                      </a:r>
                    </a:p>
                  </a:txBody>
                  <a:tcPr anchor="ctr">
                    <a:solidFill>
                      <a:srgbClr val="162A45"/>
                    </a:solidFill>
                  </a:tcPr>
                </a:tc>
                <a:tc>
                  <a:txBody>
                    <a:bodyPr/>
                    <a:lstStyle/>
                    <a:p>
                      <a:pPr algn="ctr">
                        <a:defRPr sz="1100">
                          <a:solidFill>
                            <a:srgbClr val="CBD5E0"/>
                          </a:solidFill>
                          <a:latin typeface="Segoe UI" panose="020B0502040204020203"/>
                        </a:defRPr>
                      </a:pPr>
                      <a:r>
                        <a:t>O(n)</a:t>
                      </a:r>
                    </a:p>
                  </a:txBody>
                  <a:tcPr anchor="ctr">
                    <a:solidFill>
                      <a:srgbClr val="162A45"/>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3600" b="1">
                <a:solidFill>
                  <a:srgbClr val="FFFFFF"/>
                </a:solidFill>
                <a:latin typeface="Segoe UI" panose="020B0502040204020203"/>
              </a:defRPr>
            </a:pPr>
            <a:r>
              <a:t>How to Compile &amp; Run</a:t>
            </a:r>
          </a:p>
        </p:txBody>
      </p:sp>
      <p:sp>
        <p:nvSpPr>
          <p:cNvPr id="4" name="Rectangle 3"/>
          <p:cNvSpPr/>
          <p:nvPr/>
        </p:nvSpPr>
        <p:spPr>
          <a:xfrm>
            <a:off x="731520" y="91440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80160"/>
            <a:ext cx="11155680" cy="2377440"/>
          </a:xfrm>
          <a:prstGeom prst="roundRect">
            <a:avLst/>
          </a:prstGeom>
          <a:solidFill>
            <a:srgbClr val="162A45"/>
          </a:solidFill>
          <a:ln w="19050">
            <a:solidFill>
              <a:srgbClr val="38B2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4572000" cy="365760"/>
          </a:xfrm>
          <a:prstGeom prst="rect">
            <a:avLst/>
          </a:prstGeom>
          <a:noFill/>
        </p:spPr>
        <p:txBody>
          <a:bodyPr wrap="square">
            <a:spAutoFit/>
          </a:bodyPr>
          <a:lstStyle/>
          <a:p>
            <a:pPr algn="l">
              <a:defRPr sz="2000" b="1">
                <a:solidFill>
                  <a:srgbClr val="81E6D9"/>
                </a:solidFill>
                <a:latin typeface="Segoe UI" panose="020B0502040204020203"/>
              </a:defRPr>
            </a:pPr>
            <a:r>
              <a:t>Command Line</a:t>
            </a:r>
          </a:p>
        </p:txBody>
      </p:sp>
      <p:sp>
        <p:nvSpPr>
          <p:cNvPr id="7" name="TextBox 6"/>
          <p:cNvSpPr txBox="1"/>
          <p:nvPr/>
        </p:nvSpPr>
        <p:spPr>
          <a:xfrm>
            <a:off x="822960" y="1920240"/>
            <a:ext cx="10058400" cy="1371600"/>
          </a:xfrm>
          <a:prstGeom prst="rect">
            <a:avLst/>
          </a:prstGeom>
          <a:noFill/>
        </p:spPr>
        <p:txBody>
          <a:bodyPr wrap="square">
            <a:spAutoFit/>
          </a:bodyPr>
          <a:lstStyle/>
          <a:p>
            <a:pPr algn="l">
              <a:defRPr sz="1500" b="0">
                <a:solidFill>
                  <a:srgbClr val="68D391"/>
                </a:solidFill>
                <a:latin typeface="Consolas" panose="020B0609020204030204"/>
              </a:defRPr>
            </a:pPr>
            <a:r>
              <a:t>&gt; cd "E:\Apps\Java Projects\DocuTrack"</a:t>
            </a:r>
            <a:br/>
            <a:r>
              <a:t>&gt; javac -d bin src/**/*.java</a:t>
            </a:r>
            <a:br/>
            <a:r>
              <a:t>&gt; java -cp bin app.Main</a:t>
            </a:r>
          </a:p>
        </p:txBody>
      </p:sp>
      <p:sp>
        <p:nvSpPr>
          <p:cNvPr id="8" name="Rounded Rectangle 7"/>
          <p:cNvSpPr/>
          <p:nvPr/>
        </p:nvSpPr>
        <p:spPr>
          <a:xfrm>
            <a:off x="548640" y="3931920"/>
            <a:ext cx="5303520" cy="2560320"/>
          </a:xfrm>
          <a:prstGeom prst="roundRect">
            <a:avLst/>
          </a:prstGeom>
          <a:solidFill>
            <a:srgbClr val="162A45"/>
          </a:solidFill>
          <a:ln w="19050">
            <a:solidFill>
              <a:srgbClr val="B79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023360"/>
            <a:ext cx="4572000" cy="365760"/>
          </a:xfrm>
          <a:prstGeom prst="rect">
            <a:avLst/>
          </a:prstGeom>
          <a:noFill/>
        </p:spPr>
        <p:txBody>
          <a:bodyPr wrap="square">
            <a:spAutoFit/>
          </a:bodyPr>
          <a:lstStyle/>
          <a:p>
            <a:pPr algn="l">
              <a:defRPr sz="2000" b="1">
                <a:solidFill>
                  <a:srgbClr val="B794F6"/>
                </a:solidFill>
                <a:latin typeface="Segoe UI" panose="020B0502040204020203"/>
              </a:defRPr>
            </a:pPr>
            <a:r>
              <a:t>IntelliJ IDEA</a:t>
            </a:r>
          </a:p>
        </p:txBody>
      </p:sp>
      <p:sp>
        <p:nvSpPr>
          <p:cNvPr id="10" name="TextBox 9"/>
          <p:cNvSpPr txBox="1"/>
          <p:nvPr/>
        </p:nvSpPr>
        <p:spPr>
          <a:xfrm>
            <a:off x="822960" y="4480560"/>
            <a:ext cx="4846320" cy="1828800"/>
          </a:xfrm>
          <a:prstGeom prst="rect">
            <a:avLst/>
          </a:prstGeom>
          <a:noFill/>
        </p:spPr>
        <p:txBody>
          <a:bodyPr wrap="square">
            <a:spAutoFit/>
          </a:bodyPr>
          <a:lstStyle/>
          <a:p>
            <a:pPr>
              <a:spcAft>
                <a:spcPts val="600"/>
              </a:spcAft>
              <a:defRPr sz="1300">
                <a:solidFill>
                  <a:srgbClr val="CBD5E0"/>
                </a:solidFill>
                <a:latin typeface="Segoe UI" panose="020B0502040204020203"/>
              </a:defRPr>
            </a:pPr>
            <a:r>
              <a:t>1. Open "E:\Apps\Java Projects" as project</a:t>
            </a:r>
          </a:p>
          <a:p>
            <a:pPr>
              <a:spcAft>
                <a:spcPts val="600"/>
              </a:spcAft>
              <a:defRPr sz="1300">
                <a:solidFill>
                  <a:srgbClr val="CBD5E0"/>
                </a:solidFill>
                <a:latin typeface="Segoe UI" panose="020B0502040204020203"/>
              </a:defRPr>
            </a:pPr>
            <a:r>
              <a:t>2. Mark DocuTrack/src as Source Root</a:t>
            </a:r>
          </a:p>
          <a:p>
            <a:pPr>
              <a:spcAft>
                <a:spcPts val="600"/>
              </a:spcAft>
              <a:defRPr sz="1300">
                <a:solidFill>
                  <a:srgbClr val="CBD5E0"/>
                </a:solidFill>
                <a:latin typeface="Segoe UI" panose="020B0502040204020203"/>
              </a:defRPr>
            </a:pPr>
            <a:r>
              <a:t>3. Right-click Main.java → Run 'Main.main()'</a:t>
            </a:r>
          </a:p>
          <a:p>
            <a:pPr>
              <a:spcAft>
                <a:spcPts val="600"/>
              </a:spcAft>
              <a:defRPr sz="1300">
                <a:solidFill>
                  <a:srgbClr val="CBD5E0"/>
                </a:solidFill>
                <a:latin typeface="Segoe UI" panose="020B0502040204020203"/>
              </a:defRPr>
            </a:pPr>
            <a:r>
              <a:t>4. Interact via the console terminal</a:t>
            </a:r>
          </a:p>
        </p:txBody>
      </p:sp>
      <p:sp>
        <p:nvSpPr>
          <p:cNvPr id="11" name="Rounded Rectangle 10"/>
          <p:cNvSpPr/>
          <p:nvPr/>
        </p:nvSpPr>
        <p:spPr>
          <a:xfrm>
            <a:off x="6217920" y="3931920"/>
            <a:ext cx="5303520" cy="2560320"/>
          </a:xfrm>
          <a:prstGeom prst="roundRect">
            <a:avLst/>
          </a:prstGeom>
          <a:solidFill>
            <a:srgbClr val="162A45"/>
          </a:solidFill>
          <a:ln w="19050">
            <a:solidFill>
              <a:srgbClr val="EDD8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023360"/>
            <a:ext cx="4572000" cy="365760"/>
          </a:xfrm>
          <a:prstGeom prst="rect">
            <a:avLst/>
          </a:prstGeom>
          <a:noFill/>
        </p:spPr>
        <p:txBody>
          <a:bodyPr wrap="square">
            <a:spAutoFit/>
          </a:bodyPr>
          <a:lstStyle/>
          <a:p>
            <a:pPr algn="l">
              <a:defRPr sz="2000" b="1">
                <a:solidFill>
                  <a:srgbClr val="EDD88B"/>
                </a:solidFill>
                <a:latin typeface="Segoe UI" panose="020B0502040204020203"/>
              </a:defRPr>
            </a:pPr>
            <a:r>
              <a:t>Prerequisites</a:t>
            </a:r>
          </a:p>
        </p:txBody>
      </p:sp>
      <p:sp>
        <p:nvSpPr>
          <p:cNvPr id="13" name="TextBox 12"/>
          <p:cNvSpPr txBox="1"/>
          <p:nvPr/>
        </p:nvSpPr>
        <p:spPr>
          <a:xfrm>
            <a:off x="6492240" y="4480560"/>
            <a:ext cx="4846320" cy="1828800"/>
          </a:xfrm>
          <a:prstGeom prst="rect">
            <a:avLst/>
          </a:prstGeom>
          <a:noFill/>
        </p:spPr>
        <p:txBody>
          <a:bodyPr wrap="square">
            <a:spAutoFit/>
          </a:bodyPr>
          <a:lstStyle/>
          <a:p>
            <a:pPr>
              <a:spcAft>
                <a:spcPts val="600"/>
              </a:spcAft>
              <a:defRPr sz="1300">
                <a:solidFill>
                  <a:srgbClr val="CBD5E0"/>
                </a:solidFill>
                <a:latin typeface="Segoe UI" panose="020B0502040204020203"/>
              </a:defRPr>
            </a:pPr>
            <a:r>
              <a:t>• JDK 21 or higher</a:t>
            </a:r>
          </a:p>
          <a:p>
            <a:pPr>
              <a:spcAft>
                <a:spcPts val="600"/>
              </a:spcAft>
              <a:defRPr sz="1300">
                <a:solidFill>
                  <a:srgbClr val="CBD5E0"/>
                </a:solidFill>
                <a:latin typeface="Segoe UI" panose="020B0502040204020203"/>
              </a:defRPr>
            </a:pPr>
            <a:r>
              <a:t>• javac &amp; java on system PATH</a:t>
            </a:r>
          </a:p>
          <a:p>
            <a:pPr>
              <a:spcAft>
                <a:spcPts val="600"/>
              </a:spcAft>
              <a:defRPr sz="1300">
                <a:solidFill>
                  <a:srgbClr val="CBD5E0"/>
                </a:solidFill>
                <a:latin typeface="Segoe UI" panose="020B0502040204020203"/>
              </a:defRPr>
            </a:pPr>
            <a:r>
              <a:t>• No external dependencies</a:t>
            </a:r>
          </a:p>
          <a:p>
            <a:pPr>
              <a:spcAft>
                <a:spcPts val="600"/>
              </a:spcAft>
              <a:defRPr sz="1300">
                <a:solidFill>
                  <a:srgbClr val="CBD5E0"/>
                </a:solidFill>
                <a:latin typeface="Segoe UI" panose="020B0502040204020203"/>
              </a:defRPr>
            </a:pPr>
            <a:r>
              <a:t>• No build tool (Maven/Gradle) needed</a:t>
            </a:r>
          </a:p>
          <a:p>
            <a:pPr>
              <a:spcAft>
                <a:spcPts val="600"/>
              </a:spcAft>
              <a:defRPr sz="1300">
                <a:solidFill>
                  <a:srgbClr val="CBD5E0"/>
                </a:solidFill>
                <a:latin typeface="Segoe UI" panose="020B0502040204020203"/>
              </a:defRPr>
            </a:pPr>
            <a:r>
              <a:t>• Pure Java SE — zero libraries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37160" cy="68580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3600" b="1">
                <a:solidFill>
                  <a:srgbClr val="FFFFFF"/>
                </a:solidFill>
                <a:latin typeface="Segoe UI" panose="020B0502040204020203"/>
              </a:defRPr>
            </a:pPr>
            <a:r>
              <a:t>Class Diagram</a:t>
            </a:r>
          </a:p>
        </p:txBody>
      </p:sp>
      <p:sp>
        <p:nvSpPr>
          <p:cNvPr id="4" name="Rectangle 3"/>
          <p:cNvSpPr/>
          <p:nvPr/>
        </p:nvSpPr>
        <p:spPr>
          <a:xfrm>
            <a:off x="731520" y="914400"/>
            <a:ext cx="228600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ass_diagram.png"/>
          <p:cNvPicPr>
            <a:picLocks noChangeAspect="1"/>
          </p:cNvPicPr>
          <p:nvPr/>
        </p:nvPicPr>
        <p:blipFill>
          <a:blip r:embed="rId1"/>
          <a:stretch>
            <a:fillRect/>
          </a:stretch>
        </p:blipFill>
        <p:spPr>
          <a:xfrm>
            <a:off x="466090" y="1198245"/>
            <a:ext cx="11544300" cy="54768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p:sp>
        <p:nvSpPr>
          <p:cNvPr id="2" name="Rounded Rectangle 1"/>
          <p:cNvSpPr/>
          <p:nvPr/>
        </p:nvSpPr>
        <p:spPr>
          <a:xfrm>
            <a:off x="0" y="0"/>
            <a:ext cx="12191695" cy="50800"/>
          </a:xfrm>
          <a:prstGeom prst="round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212080" y="1371600"/>
            <a:ext cx="1645920" cy="1645920"/>
          </a:xfrm>
          <a:prstGeom prst="ellipse">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212080" y="1691640"/>
            <a:ext cx="1645920" cy="1005840"/>
          </a:xfrm>
          <a:prstGeom prst="rect">
            <a:avLst/>
          </a:prstGeom>
          <a:noFill/>
        </p:spPr>
        <p:txBody>
          <a:bodyPr wrap="square">
            <a:spAutoFit/>
          </a:bodyPr>
          <a:lstStyle/>
          <a:p>
            <a:pPr algn="ctr">
              <a:defRPr sz="4800" b="0">
                <a:solidFill>
                  <a:srgbClr val="FFFFFF"/>
                </a:solidFill>
                <a:latin typeface="Segoe UI" panose="020B0502040204020203"/>
              </a:defRPr>
            </a:pPr>
            <a:r>
              <a:t>✅</a:t>
            </a:r>
          </a:p>
        </p:txBody>
      </p:sp>
      <p:sp>
        <p:nvSpPr>
          <p:cNvPr id="5" name="TextBox 4"/>
          <p:cNvSpPr txBox="1"/>
          <p:nvPr/>
        </p:nvSpPr>
        <p:spPr>
          <a:xfrm>
            <a:off x="1371600" y="3291840"/>
            <a:ext cx="9144000" cy="914400"/>
          </a:xfrm>
          <a:prstGeom prst="rect">
            <a:avLst/>
          </a:prstGeom>
          <a:noFill/>
        </p:spPr>
        <p:txBody>
          <a:bodyPr wrap="square">
            <a:spAutoFit/>
          </a:bodyPr>
          <a:lstStyle/>
          <a:p>
            <a:pPr algn="ctr">
              <a:defRPr sz="5600" b="1">
                <a:solidFill>
                  <a:srgbClr val="FFFFFF"/>
                </a:solidFill>
                <a:latin typeface="Segoe UI" panose="020B0502040204020203"/>
              </a:defRPr>
            </a:pPr>
            <a:r>
              <a:t>Thank You!</a:t>
            </a:r>
          </a:p>
        </p:txBody>
      </p:sp>
      <p:sp>
        <p:nvSpPr>
          <p:cNvPr id="6" name="Rectangle 5"/>
          <p:cNvSpPr/>
          <p:nvPr/>
        </p:nvSpPr>
        <p:spPr>
          <a:xfrm>
            <a:off x="4754880" y="4206240"/>
            <a:ext cx="2560320" cy="38100"/>
          </a:xfrm>
          <a:prstGeom prst="rect">
            <a:avLst/>
          </a:prstGeom>
          <a:solidFill>
            <a:srgbClr val="38B2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572000"/>
            <a:ext cx="9144000" cy="640080"/>
          </a:xfrm>
          <a:prstGeom prst="rect">
            <a:avLst/>
          </a:prstGeom>
          <a:noFill/>
        </p:spPr>
        <p:txBody>
          <a:bodyPr wrap="square">
            <a:spAutoFit/>
          </a:bodyPr>
          <a:lstStyle/>
          <a:p>
            <a:pPr algn="ctr">
              <a:defRPr sz="2000" b="0">
                <a:solidFill>
                  <a:srgbClr val="81E6D9"/>
                </a:solidFill>
                <a:latin typeface="Segoe UI" panose="020B0502040204020203"/>
              </a:defRPr>
            </a:pPr>
            <a:r>
              <a:t>DocuTrack — Where Data Structures Meet Document Management</a:t>
            </a:r>
          </a:p>
        </p:txBody>
      </p:sp>
      <p:sp>
        <p:nvSpPr>
          <p:cNvPr id="8" name="Rounded Rectangle 7"/>
          <p:cNvSpPr/>
          <p:nvPr/>
        </p:nvSpPr>
        <p:spPr>
          <a:xfrm>
            <a:off x="0" y="6492240"/>
            <a:ext cx="12191695" cy="365760"/>
          </a:xfrm>
          <a:prstGeom prst="roundRect">
            <a:avLst/>
          </a:prstGeom>
          <a:solidFill>
            <a:srgbClr val="16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510528"/>
            <a:ext cx="10058400" cy="320040"/>
          </a:xfrm>
          <a:prstGeom prst="rect">
            <a:avLst/>
          </a:prstGeom>
          <a:noFill/>
        </p:spPr>
        <p:txBody>
          <a:bodyPr wrap="square">
            <a:spAutoFit/>
          </a:bodyPr>
          <a:lstStyle/>
          <a:p>
            <a:pPr algn="ctr">
              <a:defRPr sz="1200" b="0">
                <a:solidFill>
                  <a:srgbClr val="A0AEC0"/>
                </a:solidFill>
                <a:latin typeface="Segoe UI" panose="020B0502040204020203"/>
              </a:defRPr>
            </a:pPr>
            <a:r>
              <a:t>6 CO Modules  •  20+ Algorithms  •  Java SE 21  •  Console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13316</Words>
  <Application>WPS Presentation</Application>
  <PresentationFormat>On-screen Show (4:3)</PresentationFormat>
  <Paragraphs>591</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Arial</vt:lpstr>
      <vt:lpstr>Segoe UI</vt:lpstr>
      <vt:lpstr>Consolas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Ayan Roy</cp:lastModifiedBy>
  <cp:revision>7</cp:revision>
  <dcterms:created xsi:type="dcterms:W3CDTF">2013-01-27T09:14:00Z</dcterms:created>
  <dcterms:modified xsi:type="dcterms:W3CDTF">2026-06-25T04:03:37Z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3267B368CED04B90A18229CDBBE577A0_12</vt:lpwstr>
  </property>
  <property fmtid="{D5CDD505-2E9C-101B-9397-08002B2CF9AE}" pid="3" name="KSOProductBuildVer">
    <vt:lpwstr>2057-12.2.0.23203</vt:lpwstr>
  </property>
</Properties>
</file>